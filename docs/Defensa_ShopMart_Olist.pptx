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72" r:id="rId23"/>
    <p:sldId id="273" r:id="rId24"/>
    <p:sldId id="263" r:id="rId9"/>
    <p:sldId id="264" r:id="rId10"/>
    <p:sldId id="265" r:id="rId11"/>
    <p:sldId id="266" r:id="rId12"/>
    <p:sldId id="274" r:id="rId25"/>
    <p:sldId id="275" r:id="rId26"/>
    <p:sldId id="276" r:id="rId27"/>
    <p:sldId id="277" r:id="rId28"/>
    <p:sldId id="267" r:id="rId13"/>
    <p:sldId id="268" r:id="rId14"/>
    <p:sldId id="278" r:id="rId29"/>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8" d="100"/>
          <a:sy n="138" d="100"/>
        </p:scale>
        <p:origin x="114" y="6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8.xml"/><Relationship Id="rId14" Type="http://schemas.openxmlformats.org/officeDocument/2006/relationships/slide" Target="slides/slide19.xml"/><Relationship Id="rId15" Type="http://schemas.openxmlformats.org/officeDocument/2006/relationships/slide" Target="slides/slide21.xml"/><Relationship Id="rId16" Type="http://schemas.openxmlformats.org/officeDocument/2006/relationships/slide" Target="slides/slide22.xml"/><Relationship Id="rId17" Type="http://schemas.openxmlformats.org/officeDocument/2006/relationships/slide" Target="slides/slide23.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883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Buenos días/tardes. Voy a presentar mi trabajo de titulación: un caso de ciencia de datos para ShopMart, una empresa ficticia de e-commerce, resuelto sobre el dataset público Olist.</a:t>
            </a:r>
          </a:p>
          <a:p>
            <a:r>
              <a:rPr lang="es-ES" dirty="0"/>
              <a:t>El hilo conductor es simple: ¿podemos anticipar, apenas con la información del primer pedido de un cliente, si va a volver a comprar? Y si podemos, ¿qué tan útil es esa señal para el negocio?</a:t>
            </a:r>
          </a:p>
          <a:p>
            <a:r>
              <a:rPr lang="es-ES" dirty="0"/>
              <a:t>La respuesta corta, que voy a desarrollar en las próximas slides, es: al validar correctamente en el tiempo, la señal se revela nula — y ese hallazgo metodológico, no el desempeño de ningún modelo, es el resultado central de este trabajo.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La agenda sigue el ciclo de vida completo del caso: primero el problema y los objetivos, luego cómo se prepararon los datos y qué mostró el análisis exploratorio, después el diseño y entrenamiento de los modelos, los resultados con su interpretación de negocio, las consideraciones éticas, y cierro con conclusiones.</a:t>
            </a:r>
          </a:p>
          <a:p>
            <a:r>
              <a:rPr lang="es-ES" dirty="0"/>
              <a:t>Voy a insistir en la interpretación en cada sección, no solo en el número: lo que importa para la defensa no es cuánto vale el PR-AUC final, sino qué significa ese número, qué decisión habilita, y qué aprendimos del proceso de validación en sí.</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El contexto importa porque no estamos resolviendo un problema abstracto de clasificación: hay una decisión de negocio concreta detrás — a quién le habla marketing primero después de la primera compra.</a:t>
            </a:r>
          </a:p>
          <a:p>
            <a:r>
              <a:rPr lang="es-ES" dirty="0"/>
              <a:t>La cifra de 5x en costo de adquisición vs. retención es la que justifica todo el proyecto: incluso una señal predictiva modesta, si permite priorizar bien ese presupuesto, ya genera valor.</a:t>
            </a:r>
          </a:p>
          <a:p>
            <a:r>
              <a:rPr lang="es-ES" dirty="0"/>
              <a:t>Este framing también anticipa la pregunta guía de la siguiente slide: no buscamos explicar por qué recompra un cliente, sino producir un score accionable para focalizar retención.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Esta es la pregunta que organiza todo el proyecto, y quiero ser preciso con el verbo: no preguntamos por qué un cliente recompra, preguntamos qué tan probable es que lo haga, usando solo lo que ya sabemos en el momento del primer pedido.</a:t>
            </a:r>
          </a:p>
          <a:p>
            <a:r>
              <a:rPr lang="es-ES" dirty="0"/>
              <a:t>Esa restricción -solo el primer pedido- no es arbitraria: es la que hace que el score sea accionable en el momento en que a ShopMart le sirve, es decir, inmediatamente después de la primera compra, antes de que el cliente decida si vuelve o no.</a:t>
            </a:r>
          </a:p>
          <a:p>
            <a:r>
              <a:rPr lang="es-ES" dirty="0"/>
              <a:t>La decisión que habilita es de priorización, no de exclusión: los clientes con score alto reciben foco de retención primero: nadie queda descartado del todo por el modelo.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Quiero subrayar por qué PR-AUC y no accuracy o ROC-AUC solos: con ~3.3% de positivos, un modelo que predice siempre 'no recompra' ya tiene 96.7% de accuracy y sería inútil. PR-AUC castiga eso.</a:t>
            </a:r>
          </a:p>
          <a:p>
            <a:r>
              <a:rPr lang="es-ES" dirty="0"/>
              <a:t>El baseline de 0.033 no es un modelo trivial arbitrario: es literalmente la tasa base del fenómeno. Superarlo de forma consistente es la barra mínima para decir 'el modelo aprendió algo real'.</a:t>
            </a:r>
          </a:p>
          <a:p>
            <a:r>
              <a:rPr lang="es-ES" dirty="0"/>
              <a:t>El criterio de éxito de negocio (lift &gt; 1x en el decil superior) es deliberadamente modesto: incluso una mejora moderada sobre el azar ya es útil si permite priorizar presupuesto de marketing.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Uso Olist como sustituto porque ShopMart no tiene datos propios reales: Olist es un marketplace brasileño real, con ~100k pedidos en un periodo de 2 años, del tamaño y complejidad de un e-commerce mediano.</a:t>
            </a:r>
          </a:p>
          <a:p>
            <a:r>
              <a:rPr lang="es-ES" dirty="0"/>
              <a:t>El punto de la censura de 90 días es sutil pero importante: sin excluirla, un cliente cuyo primer pedido fue ayer se vería injustamente como 'no recompra' solo porque no tuvo tiempo de volver a comprar.</a:t>
            </a:r>
          </a:p>
          <a:p>
            <a:r>
              <a:rPr lang="es-ES" dirty="0"/>
              <a:t>La restricción de usar solo variables del primer pedido es la decisión anti-leakage más importante del proyecto: cualquier variable de pedidos posteriores literalmente 'vería el futuro'.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Antes de mostrar resultados quiero que quede claro que hubo decisiones deliberadas de limpieza, no 'default de la librería': cada nulo estructural se documentó y se decidió explícitamente qué hacer con él.</a:t>
            </a:r>
          </a:p>
          <a:p>
            <a:r>
              <a:rPr lang="es-ES" dirty="0"/>
              <a:t>El hash determinístico es un detalle técnico pero importante para la defensa: significa que puedo re-ejecutar NB1 hoy y demostrar que produce exactamente los mismos datos, byte a byte.</a:t>
            </a:r>
          </a:p>
          <a:p>
            <a:r>
              <a:rPr lang="es-ES" dirty="0"/>
              <a:t>Con los datos ya limpios y validados, las próximas dos slides muestran los hallazgos del EDA que determinaron cómo se construyó el modelo.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El baseline de PR-AUC 0.033 es, literalmente, la tasa de recompra del dataset: un modelo que predice al azar respetando esa proporción llega a ese número sin aprender nada.</a:t>
            </a:r>
          </a:p>
          <a:p>
            <a:r>
              <a:rPr lang="es-ES" dirty="0"/>
              <a:t>Todo lo que el modelo final logre por encima de 0.033 es evidencia de que capturó señal real, aunque sea señal débil — por eso la comparación contra este piso es el primer criterio de éxito del proyecto.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Quiero ser honesto con el tribunal: en esta versión de la comparación (partición temporal corregida), el ensemble gana con margen claro en CV dentro de train (0.062 vs. 0.051) — no hay empate técnico esta vez.</a:t>
            </a:r>
          </a:p>
          <a:p>
            <a:r>
              <a:rPr lang="es-ES" dirty="0"/>
              <a:t>Adelanto el giro de la historia: ese resultado de CV es engañoso. El HistGradientBoosting tuneado terminó con PR-AUC de test = 0.037, apenas por encima del baseline de 0.033, con un lift de apenas 1.00x — la ventaja de CV no sobrevivió al pasar a datos genuinamente posteriores en el tiempo.</a:t>
            </a:r>
          </a:p>
          <a:p>
            <a:r>
              <a:rPr lang="es-ES" dirty="0"/>
              <a:t>Esa brecha entre CV y test es, para mí, el hallazgo más importante de todo el proyecto — más que el desempeño de cualquier modelo candidato.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El orden temporal del split tiene un matiz importante: no es un corte cronológico simple, sino uno que respeta el tiempo dentro de cada clase para no romper el balance de ~3.3% de recompra (detalle en el Informe, sección 3.2). Adelanto algo que desarrollo en la próxima slide: esta partición, al ser la correcta, es también la que reveló que el modelo no generaliza hacia adelante en el tiempo — algo que la validación anterior (con un split que no era realmente temporal) escondía por completo.</a:t>
            </a:r>
          </a:p>
          <a:p>
            <a:r>
              <a:rPr lang="es-ES" dirty="0"/>
              <a:t>El umbral calibrado por F1 en vez de 0.5 es la respuesta a una pregunta típica del tribunal: con 3.3% de positivos, un umbral de 0.5 casi nunca se supera y el modelo terminaría prediciendo 'no recompra' siempre.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El framing correcto para esta defensa cambió por completo respecto a una versión anterior de este análisis: ya no es 'señal débil pero real', es 'la validación anterior estaba mal hecha, y al corregirla, la señal desaparece'. Es una conclusión más incómoda, pero es la honesta.</a:t>
            </a:r>
          </a:p>
          <a:p>
            <a:r>
              <a:rPr lang="es-ES" dirty="0"/>
              <a:t>El punto que más quiero que quede claro: el ensemble parecía ganar con margen en CV (slide 11), y aun así no generalizó — es el ejemplo de libro de por qué la validación cruzada dentro de train nunca reemplaza una validación genuinamente prospectiva cuando hay desplazamiento temporal.</a:t>
            </a:r>
          </a:p>
          <a:p>
            <a:r>
              <a:rPr lang="es-ES" dirty="0"/>
              <a:t>El framing correcto para esta versión es: 'señal nula bajo validación honesta, y ese hallazgo metodológico es el verdadero resultado'. Esa honestidad es parte de lo que se evalúa en un caso de ciencia de datos aplicada.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Esta sección es opcional en el alcance del caso, pero la incluyo porque demuestra que el modelo no es solo un notebook: hay una función predict_one lista para envolverse en una API real.</a:t>
            </a:r>
          </a:p>
          <a:p>
            <a:r>
              <a:rPr lang="es-ES" dirty="0"/>
              <a:t>El punto de reentrenamiento periódico es la conexión honesta con la limitación de 'dataset estático': un modelo entrenado sobre 2016-2018 no debería usarse indefinidamente sin revalidar contra datos nuevos.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La pregunta ética más probable del tribunal es sobre customer_state: la respuesta corta es 'se usa para predecir, nunca para excluir' — es una distinción importante y la digo explícitamente.</a:t>
            </a:r>
          </a:p>
          <a:p>
            <a:r>
              <a:rPr lang="es-ES" dirty="0"/>
              <a:t>El punto de las etiquetas RFM parece menor pero no lo es: nombrar un segmento 'en riesgo' en vez de algo estigmatizante es una decisión de diseño ética, no solo semántica.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Estas conclusiones son, en orden de importancia para mí: (1) el hallazgo metodológico —una validación cruzada dentro de train puede ocultar por completo la falta de generalización temporal— es el aporte más valioso de este trabajo; (2) el modelo final, evaluado correctamente, no aporta lift útil sobre un contacto aleatorio; (3) RFM sigue entregando un segundo ángulo de acción, independiente de este resultado.</a:t>
            </a:r>
          </a:p>
          <a:p>
            <a:r>
              <a:rPr lang="es-ES" dirty="0"/>
              <a:t>Sobre trabajo futuro, si me preguntan qué haría primero con más tiempo: investigar por qué el desempeño colapsa de train a test, y rediseñar la selección de hiperparámetros para que use validación temporal explícita — antes de volver a prometer cualquier lift de negocio.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Estos son los entregables técnicos completos: ambos notebooks están ejecutados de punta a punta, con outputs embebidos, y los artefactos en artifacts/ reproducen exactamente lo mostrado en esta defensa.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Cierro recapitulando en una frase: la validación cruzada dentro de entrenamiento sugería una señal real; validar correctamente en el tiempo mostró que no lo es — y ese descubrimiento, junto con haber descartado con evidencia la intuición de que la satisfacción declarada explica la recompra, es el aporte más valioso de este trabajo.</a:t>
            </a:r>
          </a:p>
          <a:p>
            <a:r>
              <a:rPr lang="es-ES" dirty="0"/>
              <a:t>Quedo abierto a preguntas.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El desbalance de 3.3% es la decisión metodológica que más consecuencias tiene aguas abajo: define la métrica primaria, la estrategia de validación cruzada, y hasta el umbral de decisión del modelo final.</a:t>
            </a:r>
          </a:p>
          <a:p>
            <a:r>
              <a:rPr lang="es-ES" dirty="0"/>
              <a:t>La estacionalidad y la cardinalidad de categoría/ciudad son hallazgos 'de higiene': no son el hallazgo dramático del proyecto, pero ignorarlos habría inflado el modelo con ruido sin agregar señal real.</a:t>
            </a:r>
          </a:p>
          <a:p>
            <a:r>
              <a:rPr lang="es-ES" dirty="0"/>
              <a:t>La frase de cierre es la transición a la siguiente slide, que es la que más quiero que el tribunal recuerde: ni siquiera la satisfacción del cliente predice la recompra por sí sola.</a:t>
            </a:r>
          </a:p>
        </p:txBody>
      </p:sp>
      <p:sp>
        <p:nvSpPr>
          <p:cNvPr id="4" name="Slide Number Placeholder 3"/>
          <p:cNvSpPr>
            <a:spLocks noGrp="1"/>
          </p:cNvSpPr>
          <p:nvPr>
            <p:ph type="sldNum" sz="quarter" idx="10"/>
          </p:nvPr>
        </p:nvSpPr>
        <p:spPr/>
        <p:txBody>
          <a:bodyPr/>
          <a:lstStyle/>
          <a:p>
            <a:fld id="{F7021451-1387-4CA6-816F-3879F97B5CBC}" type="slidenum">
              <a:rPr lang="es-ES"/>
              <a:t>17</a:t>
            </a:fld>
            <a:endParaRPr 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Esta es, para mí, la slide más importante del EDA y una de las más importantes de toda la defensa: contradice la intuición de negocio más obvia sobre retención en e-commerce.</a:t>
            </a:r>
          </a:p>
          <a:p>
            <a:r>
              <a:rPr lang="es-ES" dirty="0"/>
              <a:t>No digo que la satisfacción no importe en absoluto — digo que, medida como review_score de 1 a 5, no es un predictor útil de recompra en este dataset. Son dos afirmaciones distintas y hay que ser preciso.</a:t>
            </a:r>
          </a:p>
          <a:p>
            <a:r>
              <a:rPr lang="es-ES" dirty="0"/>
              <a:t>La implicación práctica es fuerte: si ShopMart quisiera mejorar retención invirtiendo solo en subir el review_score promedio, este análisis sugiere que no movería la aguja de recompra.</a:t>
            </a:r>
          </a:p>
          <a:p>
            <a:r>
              <a:rPr lang="es-ES" dirty="0"/>
              <a:t>Esto también anticipa el hallazgo de permutation importance en la sección de resultados: el modelo final tampoco aprende de review_score — es consistente con el EDA, no una casualidad del entrenamiento.</a:t>
            </a:r>
          </a:p>
        </p:txBody>
      </p:sp>
      <p:sp>
        <p:nvSpPr>
          <p:cNvPr id="4" name="Slide Number Placeholder 3"/>
          <p:cNvSpPr>
            <a:spLocks noGrp="1"/>
          </p:cNvSpPr>
          <p:nvPr>
            <p:ph type="sldNum" sz="quarter" idx="10"/>
          </p:nvPr>
        </p:nvSpPr>
        <p:spPr/>
        <p:txBody>
          <a:bodyPr/>
          <a:lstStyle/>
          <a:p>
            <a:fld id="{F7021451-1387-4CA6-816F-3879F97B5CBC}" type="slidenum">
              <a:rPr lang="es-ES"/>
              <a:t>18</a:t>
            </a:fld>
            <a:endParaRPr lang="es-E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Esta slide cambia de propósito respecto a una versión anterior: ya no muestra un caso de negocio positivo, muestra la consecuencia práctica y honesta del hallazgo de la slide 13 — un lift de 1.00x significa, literalmente, cero ganancia de focalización.</a:t>
            </a:r>
          </a:p>
          <a:p>
            <a:r>
              <a:rPr lang="es-ES" dirty="0"/>
              <a:t>Si hoy una campaña random logra que recompren 3.31 de cada 100 contactados, dirigida por este score logra 3.32 de cada 100: la diferencia no es significativa. No digo que el problema de negocio no tenga solución, digo que este modelo, evaluado correctamente, no la resuelve todavía.</a:t>
            </a:r>
          </a:p>
          <a:p>
            <a:r>
              <a:rPr lang="es-ES" dirty="0"/>
              <a:t>El camino a seguir está en la slide de conclusiones: investigar el desplazamiento temporal detectado antes de prometer valor de negocio con este modelo.</a:t>
            </a:r>
          </a:p>
        </p:txBody>
      </p:sp>
      <p:sp>
        <p:nvSpPr>
          <p:cNvPr id="4" name="Slide Number Placeholder 3"/>
          <p:cNvSpPr>
            <a:spLocks noGrp="1"/>
          </p:cNvSpPr>
          <p:nvPr>
            <p:ph type="sldNum" sz="quarter" idx="10"/>
          </p:nvPr>
        </p:nvSpPr>
        <p:spPr/>
        <p:txBody>
          <a:bodyPr/>
          <a:lstStyle/>
          <a:p>
            <a:fld id="{F7021451-1387-4CA6-816F-3879F97B5CBC}" type="slidenum">
              <a:rPr lang="es-ES"/>
              <a:t>19</a:t>
            </a:fld>
            <a:endParaRPr lang="es-E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Esta slide ya no cierra el círculo con el EDA de forma tan optimista: sigue siendo cierto que review_score no es un driver, pero ahora customer_state_CE sí aparece en el top-15 — una corrección respecto a lo dicho en versiones anteriores de esta defensa.</a:t>
            </a:r>
          </a:p>
          <a:p>
            <a:r>
              <a:rPr lang="es-ES" dirty="0"/>
              <a:t>El punto más importante para esta versión: esta importancia de variables se calculó sobre un modelo que perdió poder discriminativo (slide 13), así que hay que presentarla con cautela — muestra qué mueve las pocas diferencias residuales del score, no una señal de negocio confiable.</a:t>
            </a:r>
          </a:p>
          <a:p>
            <a:r>
              <a:rPr lang="es-ES" dirty="0"/>
              <a:t>Si el tribunal pregunta por qué no se usó geolocalización más fina: la respuesta sigue siendo que ni siquiera el estado, que sí está en el modelo, aporta una señal confiable — y ahora sabemos que el modelo en su conjunto tampoco.</a:t>
            </a:r>
          </a:p>
        </p:txBody>
      </p:sp>
      <p:sp>
        <p:nvSpPr>
          <p:cNvPr id="4" name="Slide Number Placeholder 3"/>
          <p:cNvSpPr>
            <a:spLocks noGrp="1"/>
          </p:cNvSpPr>
          <p:nvPr>
            <p:ph type="sldNum" sz="quarter" idx="10"/>
          </p:nvPr>
        </p:nvSpPr>
        <p:spPr/>
        <p:txBody>
          <a:bodyPr/>
          <a:lstStyle/>
          <a:p>
            <a:fld id="{F7021451-1387-4CA6-816F-3879F97B5CBC}" type="slidenum">
              <a:rPr lang="es-ES"/>
              <a:t>20</a:t>
            </a:fld>
            <a:endParaRPr lang="es-E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Esta slide es donde muestro autocrítica activa, no solo resultados positivos: un buen caso aplicado reconoce dónde falla el modelo, no solo dónde funciona.</a:t>
            </a:r>
          </a:p>
          <a:p>
            <a:r>
              <a:rPr lang="es-ES" dirty="0"/>
              <a:t>El punto sobre customer_state conecta con la decisión de alcance de no usar geolocalización: ni a nivel fino (zip/lat-lng) ni a nivel de estado la geografía resultó ser un factor de degradación de desempeño.</a:t>
            </a:r>
          </a:p>
          <a:p>
            <a:r>
              <a:rPr lang="es-ES" dirty="0"/>
              <a:t>El último punto —factores no observados— es la explicación de fondo para todo el proyecto: no es que el modelo esté mal construido, es que el dataset no contiene toda la causalidad real de la recompra.</a:t>
            </a:r>
          </a:p>
        </p:txBody>
      </p:sp>
      <p:sp>
        <p:nvSpPr>
          <p:cNvPr id="4" name="Slide Number Placeholder 3"/>
          <p:cNvSpPr>
            <a:spLocks noGrp="1"/>
          </p:cNvSpPr>
          <p:nvPr>
            <p:ph type="sldNum" sz="quarter" idx="10"/>
          </p:nvPr>
        </p:nvSpPr>
        <p:spPr/>
        <p:txBody>
          <a:bodyPr/>
          <a:lstStyle/>
          <a:p>
            <a:fld id="{F7021451-1387-4CA6-816F-3879F97B5CBC}" type="slidenum">
              <a:rPr lang="es-ES"/>
              <a:t>21</a:t>
            </a:fld>
            <a:endParaRPr lang="es-E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La segmentación RFM es un análisis complementario al modelo predictivo, no compite con él: el modelo responde '¿va a recomprar?' a nivel de cliente individual recién llegado; RFM responde '¿cómo está estructurada toda mi base de clientes hoy?'.</a:t>
            </a:r>
          </a:p>
          <a:p>
            <a:r>
              <a:rPr lang="es-ES" dirty="0"/>
              <a:t>Las etiquetas de los segmentos se derivaron del perfil real de recencia/frecuencia/monto de cada cluster de KMeans, no de un orden arbitrario por monto — esto importa porque una versión anterior del análisis etiquetó mal el cluster más dormido como 'recompradores' por ese error.</a:t>
            </a:r>
          </a:p>
          <a:p>
            <a:r>
              <a:rPr lang="es-ES" dirty="0"/>
              <a:t>El segmento 'en riesgo/bajo valor' con ~426 días de recencia promedio es la pieza que más se conecta con el objetivo de negocio de la slide 3: son ~27,000 clientes dormidos, la oportunidad más grande y más barata de reactivar.</a:t>
            </a:r>
          </a:p>
        </p:txBody>
      </p:sp>
      <p:sp>
        <p:nvSpPr>
          <p:cNvPr id="4" name="Slide Number Placeholder 3"/>
          <p:cNvSpPr>
            <a:spLocks noGrp="1"/>
          </p:cNvSpPr>
          <p:nvPr>
            <p:ph type="sldNum" sz="quarter" idx="10"/>
          </p:nvPr>
        </p:nvSpPr>
        <p:spPr/>
        <p:txBody>
          <a:bodyPr/>
          <a:lstStyle/>
          <a:p>
            <a:fld id="{F7021451-1387-4CA6-816F-3879F97B5CBC}" type="slidenum">
              <a:rPr lang="es-ES"/>
              <a:t>22</a:t>
            </a:fld>
            <a:endParaRPr lang="es-E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customer_city fue excluido explícitamente por riesgo de reidentificación indirecta (alta cardinalidad, ~4,000 valores) — es una decisión de privacidad, no solo de reducción de dimensionalidad.</a:t>
            </a:r>
          </a:p>
          <a:p>
            <a:r>
              <a:rPr lang="es-ES" dirty="0"/>
              <a:t>El punto más importante de esta slide para la defensa es el último: el modelo debe usarse como insumo de priorización, no como filtro automático — con una señal predictiva modesta, excluir clientes de campañas de retención solo por el score sería un uso irresponsable del modelo.</a:t>
            </a:r>
          </a:p>
        </p:txBody>
      </p:sp>
      <p:sp>
        <p:nvSpPr>
          <p:cNvPr id="4" name="Slide Number Placeholder 3"/>
          <p:cNvSpPr>
            <a:spLocks noGrp="1"/>
          </p:cNvSpPr>
          <p:nvPr>
            <p:ph type="sldNum" sz="quarter" idx="10"/>
          </p:nvPr>
        </p:nvSpPr>
        <p:spPr/>
        <p:txBody>
          <a:bodyPr/>
          <a:lstStyle/>
          <a:p>
            <a:fld id="{F7021451-1387-4CA6-816F-3879F97B5CBC}" type="slidenum">
              <a:rPr lang="es-ES"/>
              <a:t>23</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692886" y="306057"/>
            <a:ext cx="3758077" cy="1122648"/>
          </a:xfrm>
          <a:prstGeom prst="rect">
            <a:avLst/>
          </a:prstGeom>
          <a:noFill/>
          <a:ln/>
        </p:spPr>
        <p:txBody>
          <a:bodyPr wrap="square" lIns="0" tIns="0" rIns="0" bIns="0" rtlCol="0" anchor="t"/>
          <a:lstStyle/>
          <a:p>
            <a:pPr indent="0" algn="ctr">
              <a:lnSpc>
                <a:spcPts val="2430"/>
              </a:lnSpc>
              <a:buSzPct val="100000"/>
              <a:buNone/>
            </a:pPr>
            <a:r>
              <a:rPr lang="en-US" sz="3600" dirty="0" err="1">
                <a:solidFill>
                  <a:srgbClr val="475569"/>
                </a:solidFill>
                <a:latin typeface="Arial" pitchFamily="34" charset="0"/>
                <a:cs typeface="Arial" pitchFamily="34" charset="-120"/>
              </a:rPr>
              <a:t>Defensa</a:t>
            </a:r>
            <a:r>
              <a:rPr lang="en-US" sz="3600" dirty="0">
                <a:solidFill>
                  <a:srgbClr val="475569"/>
                </a:solidFill>
                <a:latin typeface="Arial" pitchFamily="34" charset="0"/>
                <a:cs typeface="Arial" pitchFamily="34" charset="-120"/>
              </a:rPr>
              <a:t> de</a:t>
            </a:r>
          </a:p>
          <a:p>
            <a:pPr indent="0" algn="ctr">
              <a:lnSpc>
                <a:spcPts val="2430"/>
              </a:lnSpc>
              <a:buSzPct val="100000"/>
              <a:buNone/>
            </a:pPr>
            <a:endParaRPr lang="en-US" sz="3600" dirty="0">
              <a:solidFill>
                <a:srgbClr val="475569"/>
              </a:solidFill>
              <a:latin typeface="Arial" pitchFamily="34" charset="0"/>
              <a:cs typeface="Arial" pitchFamily="34" charset="-120"/>
            </a:endParaRPr>
          </a:p>
          <a:p>
            <a:pPr indent="0" algn="ctr">
              <a:lnSpc>
                <a:spcPts val="2430"/>
              </a:lnSpc>
              <a:buSzPct val="100000"/>
              <a:buNone/>
            </a:pPr>
            <a:r>
              <a:rPr lang="en-US" sz="3600" dirty="0">
                <a:solidFill>
                  <a:srgbClr val="475569"/>
                </a:solidFill>
                <a:latin typeface="Arial" pitchFamily="34" charset="0"/>
                <a:cs typeface="Arial" pitchFamily="34" charset="-120"/>
              </a:rPr>
              <a:t> </a:t>
            </a:r>
            <a:r>
              <a:rPr lang="en-US" sz="3600" dirty="0" err="1">
                <a:solidFill>
                  <a:srgbClr val="475569"/>
                </a:solidFill>
                <a:latin typeface="Arial" pitchFamily="34" charset="0"/>
                <a:cs typeface="Arial" pitchFamily="34" charset="-120"/>
              </a:rPr>
              <a:t>Análisis</a:t>
            </a:r>
            <a:r>
              <a:rPr lang="en-US" sz="3600" dirty="0">
                <a:solidFill>
                  <a:srgbClr val="475569"/>
                </a:solidFill>
                <a:latin typeface="Arial" pitchFamily="34" charset="0"/>
                <a:cs typeface="Arial" pitchFamily="34" charset="-120"/>
              </a:rPr>
              <a:t> de Caso</a:t>
            </a:r>
          </a:p>
        </p:txBody>
      </p:sp>
      <p:sp>
        <p:nvSpPr>
          <p:cNvPr id="3" name="Text 1"/>
          <p:cNvSpPr/>
          <p:nvPr/>
        </p:nvSpPr>
        <p:spPr>
          <a:xfrm>
            <a:off x="609600" y="1500000"/>
            <a:ext cx="7924800" cy="700000"/>
          </a:xfrm>
          <a:prstGeom prst="rect">
            <a:avLst/>
          </a:prstGeom>
          <a:noFill/>
          <a:ln/>
        </p:spPr>
        <p:txBody>
          <a:bodyPr wrap="square" lIns="0" tIns="0" rIns="0" bIns="0" rtlCol="0" anchor="t"/>
          <a:lstStyle/>
          <a:p>
            <a:pPr>
              <a:lnSpc>
                <a:spcPts val="2430"/>
              </a:lnSpc>
              <a:buSzPct val="100000"/>
            </a:pPr>
            <a:r>
              <a:rPr lang="en-US" dirty="0" sz="2000" b="1">
                <a:solidFill>
                  <a:srgbClr val="475569"/>
                </a:solidFill>
                <a:latin typeface="Arial" pitchFamily="34" charset="0"/>
                <a:cs typeface="Arial" pitchFamily="34" charset="-120"/>
              </a:rPr>
              <a:t>Personalización Data-Driven en E-Commerce: Predicción de Recompra para la Retención de Clientes (Caso Olist)</a:t>
            </a:r>
          </a:p>
        </p:txBody>
      </p:sp>
      <p:sp>
        <p:nvSpPr>
          <p:cNvPr id="4" name="Text 2"/>
          <p:cNvSpPr/>
          <p:nvPr/>
        </p:nvSpPr>
        <p:spPr>
          <a:xfrm>
            <a:off x="609600" y="2500000"/>
            <a:ext cx="7924800" cy="319980"/>
          </a:xfrm>
          <a:prstGeom prst="rect">
            <a:avLst/>
          </a:prstGeom>
          <a:noFill/>
          <a:ln/>
        </p:spPr>
        <p:txBody>
          <a:bodyPr wrap="square" lIns="0" tIns="0" rIns="0" bIns="0" rtlCol="0" anchor="t"/>
          <a:lstStyle/>
          <a:p>
            <a:pPr indent="0" algn="ctr">
              <a:lnSpc>
                <a:spcPts val="2430"/>
              </a:lnSpc>
              <a:buSzPct val="100000"/>
              <a:buNone/>
            </a:pPr>
            <a:r>
              <a:rPr lang="en-US" sz="1400" b="1" dirty="0">
                <a:solidFill>
                  <a:srgbClr val="475569"/>
                </a:solidFill>
                <a:latin typeface="Arial" pitchFamily="34" charset="0"/>
                <a:cs typeface="Arial" pitchFamily="34" charset="-120"/>
              </a:rPr>
              <a:t>Maestrante(s): </a:t>
            </a:r>
            <a:r>
              <a:rPr lang="en-US" sz="1400" dirty="0">
                <a:solidFill>
                  <a:srgbClr val="475569"/>
                </a:solidFill>
                <a:latin typeface="Arial" pitchFamily="34" charset="0"/>
                <a:cs typeface="Arial" pitchFamily="34" charset="-120"/>
              </a:rPr>
              <a:t>Alexander Baidal</a:t>
            </a:r>
          </a:p>
        </p:txBody>
      </p:sp>
      <p:sp>
        <p:nvSpPr>
          <p:cNvPr id="5" name="Text 3"/>
          <p:cNvSpPr/>
          <p:nvPr/>
        </p:nvSpPr>
        <p:spPr>
          <a:xfrm>
            <a:off x="609600" y="2920000"/>
            <a:ext cx="7924800" cy="239911"/>
          </a:xfrm>
          <a:prstGeom prst="rect">
            <a:avLst/>
          </a:prstGeom>
          <a:noFill/>
          <a:ln/>
        </p:spPr>
        <p:txBody>
          <a:bodyPr wrap="square" lIns="0" tIns="0" rIns="0" bIns="0" rtlCol="0" anchor="t"/>
          <a:lstStyle/>
          <a:p>
            <a:pPr algn="ctr">
              <a:lnSpc>
                <a:spcPts val="2430"/>
              </a:lnSpc>
              <a:buSzPct val="100000"/>
            </a:pPr>
            <a:r>
              <a:rPr lang="en-US" sz="1400" b="1" dirty="0">
                <a:solidFill>
                  <a:srgbClr val="475569"/>
                </a:solidFill>
                <a:latin typeface="Arial" pitchFamily="34" charset="0"/>
                <a:cs typeface="Arial" pitchFamily="34" charset="-120"/>
              </a:rPr>
              <a:t>Tutor(a): </a:t>
            </a:r>
            <a:r>
              <a:rPr lang="en-US" sz="1400" dirty="0">
                <a:solidFill>
                  <a:srgbClr val="475569"/>
                </a:solidFill>
                <a:latin typeface="Arial" pitchFamily="34" charset="0"/>
                <a:cs typeface="Arial" pitchFamily="34" charset="-120"/>
              </a:rPr>
              <a:t>Roque Jacinto Hernández Bustos</a:t>
            </a:r>
          </a:p>
        </p:txBody>
      </p:sp>
      <p:sp>
        <p:nvSpPr>
          <p:cNvPr id="6" name="Text 4"/>
          <p:cNvSpPr/>
          <p:nvPr/>
        </p:nvSpPr>
        <p:spPr>
          <a:xfrm>
            <a:off x="609600" y="3340000"/>
            <a:ext cx="7924800" cy="239911"/>
          </a:xfrm>
          <a:prstGeom prst="rect">
            <a:avLst/>
          </a:prstGeom>
          <a:noFill/>
          <a:ln/>
        </p:spPr>
        <p:txBody>
          <a:bodyPr wrap="square" lIns="0" tIns="0" rIns="0" bIns="0" rtlCol="0" anchor="t"/>
          <a:lstStyle/>
          <a:p>
            <a:pPr indent="0" algn="ctr">
              <a:lnSpc>
                <a:spcPts val="2430"/>
              </a:lnSpc>
              <a:buSzPct val="100000"/>
              <a:buNone/>
            </a:pPr>
            <a:r>
              <a:rPr lang="en-US" sz="1400" b="1" dirty="0">
                <a:solidFill>
                  <a:srgbClr val="475569"/>
                </a:solidFill>
                <a:latin typeface="Arial" pitchFamily="34" charset="0"/>
                <a:cs typeface="Arial" pitchFamily="34" charset="-120"/>
              </a:rPr>
              <a:t>Fecha: </a:t>
            </a:r>
            <a:r>
              <a:rPr lang="en-US" sz="1400" dirty="0">
                <a:solidFill>
                  <a:srgbClr val="475569"/>
                </a:solidFill>
                <a:latin typeface="Arial" pitchFamily="34" charset="0"/>
                <a:cs typeface="Arial" pitchFamily="34" charset="-120"/>
              </a:rPr>
              <a:t>04/08/2026</a:t>
            </a:r>
          </a:p>
        </p:txBody>
      </p:sp>
      <p:sp>
        <p:nvSpPr>
          <p:cNvPr id="8" name="Text 6"/>
          <p:cNvSpPr/>
          <p:nvPr/>
        </p:nvSpPr>
        <p:spPr>
          <a:xfrm>
            <a:off x="3006895" y="4410771"/>
            <a:ext cx="3130061" cy="186630"/>
          </a:xfrm>
          <a:prstGeom prst="rect">
            <a:avLst/>
          </a:prstGeom>
          <a:noFill/>
          <a:ln/>
        </p:spPr>
        <p:txBody>
          <a:bodyPr wrap="square" lIns="0" tIns="0" rIns="0" bIns="0" rtlCol="0" anchor="t"/>
          <a:lstStyle/>
          <a:p>
            <a:pPr marL="0" indent="0" algn="ctr">
              <a:lnSpc>
                <a:spcPts val="1470"/>
              </a:lnSpc>
              <a:buNone/>
            </a:pPr>
            <a:r>
              <a:rPr lang="en-US" sz="1050" dirty="0">
                <a:solidFill>
                  <a:srgbClr val="475569"/>
                </a:solidFill>
                <a:latin typeface="Arial" pitchFamily="34" charset="0"/>
                <a:cs typeface="Arial" pitchFamily="34" charset="-120"/>
              </a:rPr>
              <a:t>Maestría en Inteligencia Artificial y Ciencia de Datos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3600" b="1" dirty="0">
                <a:solidFill>
                  <a:srgbClr val="EC6A16"/>
                </a:solidFill>
                <a:latin typeface="Calibri"/>
                <a:ea typeface="Calibri"/>
                <a:cs typeface="Calibri"/>
                <a:sym typeface="Arial"/>
              </a:rPr>
              <a:t>Agenda</a:t>
            </a:r>
          </a:p>
        </p:txBody>
      </p:sp>
      <p:sp>
        <p:nvSpPr>
          <p:cNvPr id="3" name="Text 1"/>
          <p:cNvSpPr/>
          <p:nvPr/>
        </p:nvSpPr>
        <p:spPr>
          <a:xfrm>
            <a:off x="914400" y="1249561"/>
            <a:ext cx="7620000" cy="2422624"/>
          </a:xfrm>
          <a:prstGeom prst="rect">
            <a:avLst/>
          </a:prstGeom>
          <a:noFill/>
          <a:ln/>
        </p:spPr>
        <p:txBody>
          <a:bodyPr wrap="square" lIns="0" tIns="0" rIns="0" bIns="0" rtlCol="0" anchor="t"/>
          <a:lstStyle/>
          <a:p>
            <a:pPr marL="342900" indent="-342900">
              <a:lnSpc>
                <a:spcPts val="2430"/>
              </a:lnSpc>
              <a:buSzPct val="100000"/>
              <a:buChar char="•"/>
            </a:pPr>
            <a:r>
              <a:rPr lang="en-US" sz="1350" dirty="0">
                <a:solidFill>
                  <a:srgbClr val="475569"/>
                </a:solidFill>
                <a:latin typeface="Arial" pitchFamily="34" charset="0"/>
                <a:ea typeface="Arial" pitchFamily="34" charset="-122"/>
                <a:cs typeface="Arial" pitchFamily="34" charset="-120"/>
              </a:rPr>
              <a:t>Problema y objetivos</a:t>
            </a:r>
            <a:endParaRPr lang="en-US" sz="1350" dirty="0"/>
          </a:p>
          <a:p>
            <a:pPr marL="342900" indent="-342900">
              <a:lnSpc>
                <a:spcPts val="2430"/>
              </a:lnSpc>
              <a:buSzPct val="100000"/>
              <a:buChar char="•"/>
            </a:pPr>
            <a:r>
              <a:rPr lang="en-US" sz="1350" dirty="0">
                <a:solidFill>
                  <a:srgbClr val="475569"/>
                </a:solidFill>
                <a:latin typeface="Arial" pitchFamily="34" charset="0"/>
                <a:ea typeface="Arial" pitchFamily="34" charset="-122"/>
                <a:cs typeface="Arial" pitchFamily="34" charset="-120"/>
              </a:rPr>
              <a:t>Datos y estrategia (EDA + preparación)</a:t>
            </a:r>
            <a:endParaRPr lang="en-US" sz="1350" dirty="0"/>
          </a:p>
          <a:p>
            <a:pPr marL="342900" indent="-342900">
              <a:lnSpc>
                <a:spcPts val="2430"/>
              </a:lnSpc>
              <a:buSzPct val="100000"/>
              <a:buChar char="•"/>
            </a:pPr>
            <a:r>
              <a:rPr lang="en-US" sz="1350" dirty="0">
                <a:solidFill>
                  <a:srgbClr val="475569"/>
                </a:solidFill>
                <a:latin typeface="Arial" pitchFamily="34" charset="0"/>
                <a:ea typeface="Arial" pitchFamily="34" charset="-122"/>
                <a:cs typeface="Arial" pitchFamily="34" charset="-120"/>
              </a:rPr>
              <a:t>Modelos: diseño, entrenamiento y validación</a:t>
            </a:r>
            <a:endParaRPr lang="en-US" sz="1350" dirty="0"/>
          </a:p>
          <a:p>
            <a:pPr marL="342900" indent="-342900">
              <a:lnSpc>
                <a:spcPts val="2430"/>
              </a:lnSpc>
              <a:buSzPct val="100000"/>
              <a:buChar char="•"/>
            </a:pPr>
            <a:r>
              <a:rPr lang="en-US" sz="1350" dirty="0">
                <a:solidFill>
                  <a:srgbClr val="475569"/>
                </a:solidFill>
                <a:latin typeface="Arial" pitchFamily="34" charset="0"/>
                <a:ea typeface="Arial" pitchFamily="34" charset="-122"/>
                <a:cs typeface="Arial" pitchFamily="34" charset="-120"/>
              </a:rPr>
              <a:t>Resultados e interpretación</a:t>
            </a:r>
            <a:endParaRPr lang="en-US" sz="1350" dirty="0"/>
          </a:p>
          <a:p>
            <a:pPr marL="342900" indent="-342900">
              <a:lnSpc>
                <a:spcPts val="2430"/>
              </a:lnSpc>
              <a:buSzPct val="100000"/>
              <a:buChar char="•"/>
            </a:pPr>
            <a:r>
              <a:rPr lang="en-US" sz="1350" dirty="0">
                <a:solidFill>
                  <a:srgbClr val="475569"/>
                </a:solidFill>
                <a:latin typeface="Arial" pitchFamily="34" charset="0"/>
                <a:ea typeface="Arial" pitchFamily="34" charset="-122"/>
                <a:cs typeface="Arial" pitchFamily="34" charset="-120"/>
              </a:rPr>
              <a:t>Ética, riesgos y limitaciones</a:t>
            </a:r>
            <a:endParaRPr lang="en-US" sz="1350" dirty="0"/>
          </a:p>
          <a:p>
            <a:pPr marL="342900" indent="-342900">
              <a:lnSpc>
                <a:spcPts val="2430"/>
              </a:lnSpc>
              <a:buSzPct val="100000"/>
              <a:buChar char="•"/>
            </a:pPr>
            <a:r>
              <a:rPr lang="en-US" sz="1350" dirty="0">
                <a:solidFill>
                  <a:srgbClr val="475569"/>
                </a:solidFill>
                <a:latin typeface="Arial" pitchFamily="34" charset="0"/>
                <a:ea typeface="Arial" pitchFamily="34" charset="-122"/>
                <a:cs typeface="Arial" pitchFamily="34" charset="-120"/>
              </a:rPr>
              <a:t>Conclusiones y trabajo futuro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3600" b="1" dirty="0">
                <a:solidFill>
                  <a:srgbClr val="EC6A16"/>
                </a:solidFill>
                <a:latin typeface="Calibri"/>
                <a:ea typeface="Calibri"/>
                <a:cs typeface="Calibri"/>
              </a:rPr>
              <a:t>1. Problema y Contexto</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Contexto del dominio:</a:t>
            </a:r>
            <a:endParaRPr lang="en-US" sz="1350" dirty="0"/>
          </a:p>
        </p:txBody>
      </p:sp>
      <p:sp>
        <p:nvSpPr>
          <p:cNvPr id="4" name="Text 2"/>
          <p:cNvSpPr/>
          <p:nvPr/>
        </p:nvSpPr>
        <p:spPr>
          <a:xfrm>
            <a:off x="609600" y="1645920"/>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ShopMart es un e-commerce mediano; se resuelve sobre Olist, un marketplace brasileño real (~100k pedidos, 2016–2018) que reproduce su dinámica transaccional.</a:t>
            </a:r>
          </a:p>
        </p:txBody>
      </p:sp>
      <p:sp>
        <p:nvSpPr>
          <p:cNvPr id="5" name="Text 3"/>
          <p:cNvSpPr/>
          <p:nvPr/>
        </p:nvSpPr>
        <p:spPr>
          <a:xfrm>
            <a:off x="609600" y="2267712"/>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Dolor / necesidad:</a:t>
            </a:r>
            <a:endParaRPr lang="en-US" sz="1350" dirty="0"/>
          </a:p>
        </p:txBody>
      </p:sp>
      <p:sp>
        <p:nvSpPr>
          <p:cNvPr id="6" name="Text 4"/>
          <p:cNvSpPr/>
          <p:nvPr/>
        </p:nvSpPr>
        <p:spPr>
          <a:xfrm>
            <a:off x="609600" y="2660904"/>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Adquirir un cliente cuesta ~5x más que retenerlo, pero la recompra está estancada y el marketing se reparte parejo, sin priorizar por comportamiento real.</a:t>
            </a:r>
          </a:p>
        </p:txBody>
      </p:sp>
      <p:sp>
        <p:nvSpPr>
          <p:cNvPr id="7" name="Text 5"/>
          <p:cNvSpPr/>
          <p:nvPr/>
        </p:nvSpPr>
        <p:spPr>
          <a:xfrm>
            <a:off x="609600" y="3282696"/>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Impacto:</a:t>
            </a:r>
            <a:endParaRPr lang="en-US" sz="1350" dirty="0"/>
          </a:p>
        </p:txBody>
      </p:sp>
      <p:sp>
        <p:nvSpPr>
          <p:cNvPr id="8" name="Text 6"/>
          <p:cNvSpPr/>
          <p:nvPr/>
        </p:nvSpPr>
        <p:spPr>
          <a:xfrm>
            <a:off x="609600" y="3675888"/>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Anticipar desde el primer pedido quién es más propenso a recomprar permite a marketing/CRM enfocar el presupuesto de retención donde más cambia el resultado.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600" y="1249561"/>
            <a:ext cx="7924800" cy="1249561"/>
          </a:xfrm>
          <a:prstGeom prst="rect">
            <a:avLst/>
          </a:prstGeom>
          <a:solidFill>
            <a:srgbClr val="F1F5F9"/>
          </a:solidFill>
          <a:ln/>
          <a:effectLst>
            <a:outerShdw blurRad="152400" dist="76200" dir="5400000" algn="bl" rotWithShape="0">
              <a:srgbClr val="000000">
                <a:alpha val="8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3284339"/>
            <a:ext cx="7924800" cy="1249561"/>
          </a:xfrm>
          <a:prstGeom prst="rect">
            <a:avLst/>
          </a:prstGeom>
          <a:solidFill>
            <a:srgbClr val="F1F5F9"/>
          </a:solidFill>
          <a:ln/>
          <a:effectLst>
            <a:outerShdw blurRad="152400" dist="76200" dir="5400000" algn="bl" rotWithShape="0">
              <a:srgbClr val="000000">
                <a:alpha val="8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609600"/>
            <a:ext cx="8083296" cy="411361"/>
          </a:xfrm>
          <a:prstGeom prst="rect">
            <a:avLst/>
          </a:prstGeom>
          <a:noFill/>
          <a:ln/>
        </p:spPr>
        <p:txBody>
          <a:bodyPr wrap="square" lIns="0" tIns="0" rIns="0" bIns="0" rtlCol="0" anchor="t"/>
          <a:lstStyle/>
          <a:p>
            <a:pPr>
              <a:lnSpc>
                <a:spcPts val="3240"/>
              </a:lnSpc>
            </a:pPr>
            <a:r>
              <a:rPr lang="en-US" sz="3600" b="1" dirty="0">
                <a:solidFill>
                  <a:srgbClr val="EC6A16"/>
                </a:solidFill>
                <a:latin typeface="Calibri"/>
                <a:ea typeface="Calibri"/>
                <a:cs typeface="Calibri"/>
              </a:rPr>
              <a:t>Pregunta Guía y Decisión</a:t>
            </a:r>
          </a:p>
        </p:txBody>
      </p:sp>
      <p:sp>
        <p:nvSpPr>
          <p:cNvPr id="5" name="Text 3"/>
          <p:cNvSpPr/>
          <p:nvPr/>
        </p:nvSpPr>
        <p:spPr>
          <a:xfrm>
            <a:off x="914400" y="1554361"/>
            <a:ext cx="7461504" cy="274290"/>
          </a:xfrm>
          <a:prstGeom prst="rect">
            <a:avLst/>
          </a:prstGeom>
          <a:noFill/>
          <a:ln/>
        </p:spPr>
        <p:txBody>
          <a:bodyPr wrap="square" lIns="0" tIns="0" rIns="0" bIns="0" rtlCol="0" anchor="t"/>
          <a:lstStyle/>
          <a:p>
            <a:pPr marL="0" indent="0">
              <a:lnSpc>
                <a:spcPts val="2160"/>
              </a:lnSpc>
              <a:buNone/>
            </a:pPr>
            <a:r>
              <a:rPr lang="en-US" sz="1800" b="1" dirty="0">
                <a:solidFill>
                  <a:srgbClr val="0284C7"/>
                </a:solidFill>
                <a:latin typeface="Arial" pitchFamily="34" charset="0"/>
                <a:ea typeface="Arial" pitchFamily="34" charset="-122"/>
                <a:cs typeface="Arial" pitchFamily="34" charset="-120"/>
              </a:rPr>
              <a:t>¿Pregunta guía?</a:t>
            </a:r>
            <a:endParaRPr lang="en-US" sz="1800" dirty="0"/>
          </a:p>
        </p:txBody>
      </p:sp>
      <p:sp>
        <p:nvSpPr>
          <p:cNvPr id="6" name="Text 4"/>
          <p:cNvSpPr/>
          <p:nvPr/>
        </p:nvSpPr>
        <p:spPr>
          <a:xfrm>
            <a:off x="914400" y="1981051"/>
            <a:ext cx="7461504" cy="213271"/>
          </a:xfrm>
          <a:prstGeom prst="rect">
            <a:avLst/>
          </a:prstGeom>
          <a:noFill/>
          <a:ln/>
        </p:spPr>
        <p:txBody>
          <a:bodyPr wrap="square" lIns="0" tIns="0" rIns="0" bIns="0" rtlCol="0" anchor="t"/>
          <a:lstStyle/>
          <a:p>
            <a:pPr marL="0" indent="0">
              <a:lnSpc>
                <a:spcPts val="1680"/>
              </a:lnSpc>
              <a:buNone/>
            </a:pPr>
            <a:r>
              <a:rPr lang="en-US" sz="1200" dirty="0">
                <a:solidFill>
                  <a:srgbClr val="475569"/>
                </a:solidFill>
                <a:latin typeface="Arial" pitchFamily="34" charset="0"/>
                <a:ea typeface="Arial" pitchFamily="34" charset="-122"/>
                <a:cs typeface="Arial" pitchFamily="34" charset="-120"/>
              </a:rPr>
              <a:t>¿Qué clientes, según su primer pedido, tienen mayor probabilidad de recomprar?</a:t>
            </a:r>
            <a:endParaRPr lang="en-US" sz="1200" dirty="0"/>
          </a:p>
        </p:txBody>
      </p:sp>
      <p:sp>
        <p:nvSpPr>
          <p:cNvPr id="7" name="Text 5"/>
          <p:cNvSpPr/>
          <p:nvPr/>
        </p:nvSpPr>
        <p:spPr>
          <a:xfrm>
            <a:off x="914400" y="3589139"/>
            <a:ext cx="7461504" cy="274290"/>
          </a:xfrm>
          <a:prstGeom prst="rect">
            <a:avLst/>
          </a:prstGeom>
          <a:noFill/>
          <a:ln/>
        </p:spPr>
        <p:txBody>
          <a:bodyPr wrap="square" lIns="0" tIns="0" rIns="0" bIns="0" rtlCol="0" anchor="t"/>
          <a:lstStyle/>
          <a:p>
            <a:pPr marL="0" indent="0">
              <a:lnSpc>
                <a:spcPts val="2160"/>
              </a:lnSpc>
              <a:buNone/>
            </a:pPr>
            <a:r>
              <a:rPr lang="en-US" sz="1800" b="1" dirty="0">
                <a:solidFill>
                  <a:srgbClr val="0284C7"/>
                </a:solidFill>
                <a:latin typeface="Arial" pitchFamily="34" charset="0"/>
                <a:ea typeface="Arial" pitchFamily="34" charset="-122"/>
                <a:cs typeface="Arial" pitchFamily="34" charset="-120"/>
              </a:rPr>
              <a:t>Decisión que habilita</a:t>
            </a:r>
            <a:endParaRPr lang="en-US" sz="1800" dirty="0"/>
          </a:p>
        </p:txBody>
      </p:sp>
      <p:sp>
        <p:nvSpPr>
          <p:cNvPr id="8" name="Text 6"/>
          <p:cNvSpPr/>
          <p:nvPr/>
        </p:nvSpPr>
        <p:spPr>
          <a:xfrm>
            <a:off x="914400" y="4015829"/>
            <a:ext cx="7461504" cy="213271"/>
          </a:xfrm>
          <a:prstGeom prst="rect">
            <a:avLst/>
          </a:prstGeom>
          <a:noFill/>
          <a:ln/>
        </p:spPr>
        <p:txBody>
          <a:bodyPr wrap="square" lIns="0" tIns="0" rIns="0" bIns="0" rtlCol="0" anchor="t"/>
          <a:lstStyle/>
          <a:p>
            <a:pPr marL="0" indent="0">
              <a:lnSpc>
                <a:spcPts val="1680"/>
              </a:lnSpc>
              <a:buNone/>
            </a:pPr>
            <a:r>
              <a:rPr lang="en-US" sz="1200" dirty="0">
                <a:solidFill>
                  <a:srgbClr val="475569"/>
                </a:solidFill>
                <a:latin typeface="Arial" pitchFamily="34" charset="0"/>
                <a:ea typeface="Arial" pitchFamily="34" charset="-122"/>
                <a:cs typeface="Arial" pitchFamily="34" charset="-120"/>
              </a:rPr>
              <a:t>Priorizar campañas de retención hacia clientes con mayor score de recompra predicho.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indent="0">
              <a:lnSpc>
                <a:spcPts val="3240"/>
              </a:lnSpc>
              <a:buNone/>
            </a:pPr>
            <a:r>
              <a:rPr lang="en-US" sz="3600" b="1" dirty="0">
                <a:solidFill>
                  <a:srgbClr val="EC6A16"/>
                </a:solidFill>
                <a:latin typeface="Calibri"/>
                <a:ea typeface="Calibri"/>
                <a:cs typeface="Calibri"/>
              </a:rPr>
              <a:t>Objetivos y Criterios de Éxito</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Objetivo general:</a:t>
            </a:r>
            <a:endParaRPr lang="en-US" sz="1350" dirty="0"/>
          </a:p>
        </p:txBody>
      </p:sp>
      <p:sp>
        <p:nvSpPr>
          <p:cNvPr id="4" name="Text 2"/>
          <p:cNvSpPr/>
          <p:nvPr/>
        </p:nvSpPr>
        <p:spPr>
          <a:xfrm>
            <a:off x="609600" y="1645920"/>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Predecir la recompra desde el primer pedido y segmentar clientes vía RFM, dando a marketing/CRM una base analítica accionable para personalizar la retención.</a:t>
            </a:r>
          </a:p>
        </p:txBody>
      </p:sp>
      <p:sp>
        <p:nvSpPr>
          <p:cNvPr id="5" name="Text 3"/>
          <p:cNvSpPr/>
          <p:nvPr/>
        </p:nvSpPr>
        <p:spPr>
          <a:xfrm>
            <a:off x="609600" y="2267712"/>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Criterios de éxito:</a:t>
            </a:r>
            <a:endParaRPr lang="en-US" sz="1350" dirty="0"/>
          </a:p>
        </p:txBody>
      </p:sp>
      <p:sp>
        <p:nvSpPr>
          <p:cNvPr id="6" name="Text 4"/>
          <p:cNvSpPr/>
          <p:nvPr/>
        </p:nvSpPr>
        <p:spPr>
          <a:xfrm>
            <a:off x="914400" y="2660904"/>
            <a:ext cx="7620000" cy="1618488"/>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Métrica principal: Average Precision / PR-AUC, porque el desbalance es severo (~3.3% recompra) y ROC-AUC por sí solo sería engañoso aquí.</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Baseline: DummyClassifier estratificado (PR-AUC ≈ 0.033) — el modelo final debe superarlo de forma consistente, no por azar de una sola corrida.</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Umbral mínimo: lift &gt; 1x en el decil superior de score, para que el resultado sea traducible a una decisión de negocio real.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a:lnSpc>
                <a:spcPts val="3240"/>
              </a:lnSpc>
            </a:pPr>
            <a:r>
              <a:rPr lang="en-US" sz="3600" b="1" dirty="0">
                <a:solidFill>
                  <a:srgbClr val="EC6A16"/>
                </a:solidFill>
                <a:latin typeface="Calibri"/>
                <a:ea typeface="Calibri"/>
                <a:cs typeface="Calibri"/>
              </a:rPr>
              <a:t>2. Datos: Descripción</a:t>
            </a:r>
          </a:p>
        </p:txBody>
      </p:sp>
      <p:sp>
        <p:nvSpPr>
          <p:cNvPr id="3" name="Text 1"/>
          <p:cNvSpPr/>
          <p:nvPr/>
        </p:nvSpPr>
        <p:spPr>
          <a:xfrm>
            <a:off x="914400" y="1252728"/>
            <a:ext cx="7620000" cy="2871216"/>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Fuente: Olist (Kaggle) — sustituto curado de los datos reales que tendría ShopMart.</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Periodo: pedidos entre sep. 2016 y oct. 2018 (~100,000 pedidos), una fotografía estática.</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Tamaño: 96,096 clientes únicos; 84,282 elegibles tras excluir censura de 90 días y pedidos no entregados.</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Variable objetivo (Y): repeat_purchase — 1 si el cliente tiene 2+ pedidos en el dataset.</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Variables (X): 23 features derivadas solo del primer pedido — nunca de pedidos posteriores, para evitar fuga de información.</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Calidad: IDs pseudonimizados, sin PII; los nulos estructurales se documentan y tratan de forma explícita.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indent="0">
              <a:lnSpc>
                <a:spcPts val="3240"/>
              </a:lnSpc>
              <a:buNone/>
            </a:pPr>
            <a:r>
              <a:rPr lang="en-US" sz="3600" b="1" dirty="0">
                <a:solidFill>
                  <a:srgbClr val="EC6A16"/>
                </a:solidFill>
                <a:latin typeface="Calibri"/>
                <a:ea typeface="Calibri"/>
                <a:cs typeface="Calibri"/>
              </a:rPr>
              <a:t>Preparación y Limpieza de Datos</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Limpieza y preprocesamiento:</a:t>
            </a:r>
            <a:endParaRPr lang="en-US" sz="1350" dirty="0"/>
          </a:p>
        </p:txBody>
      </p:sp>
      <p:sp>
        <p:nvSpPr>
          <p:cNvPr id="4" name="Text 2"/>
          <p:cNvSpPr/>
          <p:nvPr/>
        </p:nvSpPr>
        <p:spPr>
          <a:xfrm>
            <a:off x="914400" y="1645920"/>
            <a:ext cx="7620000" cy="1078992"/>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Los nulos en fechas de entrega no se imputan: son estructurales (un pedido cancelado no tiene fecha de entrega) y se manejan filtrando por order_status.</a:t>
            </a:r>
          </a:p>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Las reseñas duplicadas por pedido se deduplican conservando la más reciente; los atributos de producto se imputan dentro del pipeline de sklearn, no a mano.</a:t>
            </a:r>
          </a:p>
        </p:txBody>
      </p:sp>
      <p:sp>
        <p:nvSpPr>
          <p:cNvPr id="5" name="Text 3"/>
          <p:cNvSpPr/>
          <p:nvPr/>
        </p:nvSpPr>
        <p:spPr>
          <a:xfrm>
            <a:off x="609600" y="2953512"/>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Integridad y trazabilidad:</a:t>
            </a:r>
          </a:p>
        </p:txBody>
      </p:sp>
      <p:sp>
        <p:nvSpPr>
          <p:cNvPr id="6" name="Text 4"/>
          <p:cNvSpPr/>
          <p:nvPr/>
        </p:nvSpPr>
        <p:spPr>
          <a:xfrm>
            <a:off x="914400" y="3346704"/>
            <a:ext cx="7620000" cy="1078992"/>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Se validó ausencia de order_id/customer_id duplicados y de columnas constantes o de alta cardinalidad sin tratar.</a:t>
            </a:r>
          </a:p>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Se calculó un hash determinístico de cada tabla cruda y de la tabla analítica final, para verificar que dos ejecuciones producen exactamente los mismos datos.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indent="0">
              <a:lnSpc>
                <a:spcPts val="3240"/>
              </a:lnSpc>
              <a:buNone/>
            </a:pPr>
            <a:r>
              <a:rPr lang="en-US" sz="3600" b="1" dirty="0">
                <a:solidFill>
                  <a:srgbClr val="EC6A16"/>
                </a:solidFill>
                <a:latin typeface="Calibri"/>
                <a:ea typeface="Calibri"/>
                <a:cs typeface="Calibri"/>
              </a:rPr>
              <a:t>EDA: Desbalance, Estacionalidad y Cardinalidad</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Qué encontramos:</a:t>
            </a:r>
          </a:p>
        </p:txBody>
      </p:sp>
      <p:sp>
        <p:nvSpPr>
          <p:cNvPr id="4" name="Text 2"/>
          <p:cNvSpPr/>
          <p:nvPr/>
        </p:nvSpPr>
        <p:spPr>
          <a:xfrm>
            <a:off x="914400" y="1645920"/>
            <a:ext cx="7620000" cy="1069848"/>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Desbalance severo (~3.3% recompra) → métrica primaria PR-AUC, no accuracy.</a:t>
            </a:r>
          </a:p>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Estacionalidad moderada en volumen y tasa de recompra por mes de compra.</a:t>
            </a:r>
          </a:p>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71 categorías long-tail y customer_city de alta cardinalidad (~4k): se agrupan/excluyen.</a:t>
            </a:r>
          </a:p>
        </p:txBody>
      </p:sp>
      <p:sp>
        <p:nvSpPr>
          <p:cNvPr id="5" name="Text 3"/>
          <p:cNvSpPr/>
          <p:nvPr/>
        </p:nvSpPr>
        <p:spPr>
          <a:xfrm>
            <a:off x="609600" y="2944368"/>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Conexión:</a:t>
            </a:r>
          </a:p>
        </p:txBody>
      </p:sp>
      <p:sp>
        <p:nvSpPr>
          <p:cNvPr id="6" name="Text 4"/>
          <p:cNvSpPr/>
          <p:nvPr/>
        </p:nvSpPr>
        <p:spPr>
          <a:xfrm>
            <a:off x="914400" y="3337560"/>
            <a:ext cx="7620000" cy="356616"/>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El hallazgo más importante del EDA —el review_score— tiene su propia slide a continuación.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600" y="1249561"/>
            <a:ext cx="7924800" cy="1249561"/>
          </a:xfrm>
          <a:prstGeom prst="rect">
            <a:avLst/>
          </a:prstGeom>
          <a:solidFill>
            <a:srgbClr val="F1F5F9"/>
          </a:solidFill>
          <a:ln/>
          <a:effectLst>
            <a:outerShdw blurRad="152400" dist="76200" dir="5400000" algn="bl" rotWithShape="0">
              <a:srgbClr val="000000">
                <a:alpha val="8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3284339"/>
            <a:ext cx="7924800" cy="1249561"/>
          </a:xfrm>
          <a:prstGeom prst="rect">
            <a:avLst/>
          </a:prstGeom>
          <a:solidFill>
            <a:srgbClr val="F1F5F9"/>
          </a:solidFill>
          <a:ln/>
          <a:effectLst>
            <a:outerShdw blurRad="152400" dist="76200" dir="5400000" algn="bl" rotWithShape="0">
              <a:srgbClr val="000000">
                <a:alpha val="8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609600"/>
            <a:ext cx="8083296" cy="411361"/>
          </a:xfrm>
          <a:prstGeom prst="rect">
            <a:avLst/>
          </a:prstGeom>
          <a:noFill/>
          <a:ln/>
        </p:spPr>
        <p:txBody>
          <a:bodyPr wrap="square" lIns="0" tIns="0" rIns="0" bIns="0" rtlCol="0" anchor="t"/>
          <a:lstStyle/>
          <a:p>
            <a:pPr>
              <a:lnSpc>
                <a:spcPts val="3240"/>
              </a:lnSpc>
            </a:pPr>
            <a:r>
              <a:rPr lang="en-US" sz="3600" b="1" dirty="0">
                <a:solidFill>
                  <a:srgbClr val="EC6A16"/>
                </a:solidFill>
                <a:latin typeface="Calibri"/>
                <a:ea typeface="Calibri"/>
                <a:cs typeface="Calibri"/>
              </a:rPr>
              <a:t>EDA: El "Mito" del Review Score</a:t>
            </a:r>
          </a:p>
        </p:txBody>
      </p:sp>
      <p:sp>
        <p:nvSpPr>
          <p:cNvPr id="5" name="Text 3"/>
          <p:cNvSpPr/>
          <p:nvPr/>
        </p:nvSpPr>
        <p:spPr>
          <a:xfrm>
            <a:off x="914400" y="1554361"/>
            <a:ext cx="7461504" cy="274290"/>
          </a:xfrm>
          <a:prstGeom prst="rect">
            <a:avLst/>
          </a:prstGeom>
          <a:noFill/>
          <a:ln/>
        </p:spPr>
        <p:txBody>
          <a:bodyPr wrap="square" lIns="0" tIns="0" rIns="0" bIns="0" rtlCol="0" anchor="t"/>
          <a:lstStyle/>
          <a:p>
            <a:pPr marL="0" indent="0">
              <a:lnSpc>
                <a:spcPts val="2160"/>
              </a:lnSpc>
              <a:buNone/>
            </a:pPr>
            <a:endParaRPr lang="en-US" sz="1800" dirty="0"/>
            <a:r>
              <a:rPr lang="en-US" sz="1800" b="1" dirty="0">
                <a:solidFill>
                  <a:srgbClr val="0284C7"/>
                </a:solidFill>
                <a:latin typeface="Arial" pitchFamily="34" charset="0"/>
                <a:ea typeface="Arial" pitchFamily="34" charset="-122"/>
                <a:cs typeface="Arial" pitchFamily="34" charset="-120"/>
              </a:rPr>
              <a:t>Lo esperable</a:t>
            </a:r>
          </a:p>
        </p:txBody>
      </p:sp>
      <p:sp>
        <p:nvSpPr>
          <p:cNvPr id="6" name="Text 4"/>
          <p:cNvSpPr/>
          <p:nvPr/>
        </p:nvSpPr>
        <p:spPr>
          <a:xfrm>
            <a:off x="914400" y="1981051"/>
            <a:ext cx="7461504" cy="213271"/>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La intuición de negocio dice que un cliente satisfecho (review alto) debería ser mucho más propenso a volver a comprar que uno insatisfecho.</a:t>
            </a:r>
          </a:p>
        </p:txBody>
      </p:sp>
      <p:sp>
        <p:nvSpPr>
          <p:cNvPr id="7" name="Text 5"/>
          <p:cNvSpPr/>
          <p:nvPr/>
        </p:nvSpPr>
        <p:spPr>
          <a:xfrm>
            <a:off x="914400" y="3589139"/>
            <a:ext cx="7461504" cy="274290"/>
          </a:xfrm>
          <a:prstGeom prst="rect">
            <a:avLst/>
          </a:prstGeom>
          <a:noFill/>
          <a:ln/>
        </p:spPr>
        <p:txBody>
          <a:bodyPr wrap="square" lIns="0" tIns="0" rIns="0" bIns="0" rtlCol="0" anchor="t"/>
          <a:lstStyle/>
          <a:p>
            <a:pPr marL="0" indent="0">
              <a:lnSpc>
                <a:spcPts val="2160"/>
              </a:lnSpc>
              <a:buNone/>
            </a:pPr>
            <a:endParaRPr lang="en-US" sz="1800" dirty="0"/>
            <a:r>
              <a:rPr lang="en-US" sz="1800" b="1" dirty="0">
                <a:solidFill>
                  <a:srgbClr val="0284C7"/>
                </a:solidFill>
                <a:latin typeface="Arial" pitchFamily="34" charset="0"/>
                <a:ea typeface="Arial" pitchFamily="34" charset="-122"/>
                <a:cs typeface="Arial" pitchFamily="34" charset="-120"/>
              </a:rPr>
              <a:t>Lo que muestra el dato</a:t>
            </a:r>
          </a:p>
        </p:txBody>
      </p:sp>
      <p:sp>
        <p:nvSpPr>
          <p:cNvPr id="8" name="Text 6"/>
          <p:cNvSpPr/>
          <p:nvPr/>
        </p:nvSpPr>
        <p:spPr>
          <a:xfrm>
            <a:off x="914400" y="4015829"/>
            <a:ext cx="7461504" cy="213271"/>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La tasa de recompra por review_score es prácticamente plana (2.96%–3.46%), sin tendencia monótona; su correlación con el target es de las más débiles (|ρ|&lt;0.03).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a:lnSpc>
                <a:spcPts val="3240"/>
              </a:lnSpc>
            </a:pPr>
            <a:r>
              <a:rPr lang="en-US" sz="3600" b="1" dirty="0">
                <a:solidFill>
                  <a:srgbClr val="EC6A16"/>
                </a:solidFill>
                <a:latin typeface="Calibri"/>
                <a:ea typeface="Calibri"/>
                <a:cs typeface="Calibri"/>
              </a:rPr>
              <a:t>Features y Baseline</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Transformaciones / Selección / Desbalance:</a:t>
            </a:r>
            <a:endParaRPr lang="en-US" sz="1350" dirty="0"/>
          </a:p>
        </p:txBody>
      </p:sp>
      <p:sp>
        <p:nvSpPr>
          <p:cNvPr id="4" name="Text 2"/>
          <p:cNvSpPr/>
          <p:nvPr/>
        </p:nvSpPr>
        <p:spPr>
          <a:xfrm>
            <a:off x="609600" y="1645920"/>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23 features derivadas del primer pedido (valor, pago, entrega, categoría, estacionalidad), ensambladas en un pipeline de one-hot + imputación + escalado ajustado solo en train.</a:t>
            </a:r>
          </a:p>
        </p:txBody>
      </p:sp>
      <p:sp>
        <p:nvSpPr>
          <p:cNvPr id="5" name="Text 3"/>
          <p:cNvSpPr/>
          <p:nvPr/>
        </p:nvSpPr>
        <p:spPr>
          <a:xfrm>
            <a:off x="609600" y="2267712"/>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Baseline:</a:t>
            </a:r>
            <a:endParaRPr lang="en-US" sz="1350" dirty="0"/>
          </a:p>
        </p:txBody>
      </p:sp>
      <p:sp>
        <p:nvSpPr>
          <p:cNvPr id="6" name="Text 4"/>
          <p:cNvSpPr/>
          <p:nvPr/>
        </p:nvSpPr>
        <p:spPr>
          <a:xfrm>
            <a:off x="609600" y="2660904"/>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El DummyClassifier reproduce la tasa base sin usar ninguna señal (PR-AUC = 0.033) — es el piso que cualquier modelo real debe superar para justificar su complejidad.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indent="0">
              <a:lnSpc>
                <a:spcPts val="3240"/>
              </a:lnSpc>
              <a:buNone/>
            </a:pPr>
            <a:r>
              <a:rPr lang="en-US" sz="3600" b="1" dirty="0">
                <a:solidFill>
                  <a:srgbClr val="EC6A16"/>
                </a:solidFill>
                <a:latin typeface="Calibri"/>
                <a:ea typeface="Calibri"/>
                <a:cs typeface="Calibri"/>
              </a:rPr>
              <a:t>3. Modelos: Candidatos y Selección</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Evaluados:</a:t>
            </a:r>
            <a:endParaRPr lang="en-US" sz="1350" dirty="0"/>
          </a:p>
        </p:txBody>
      </p:sp>
      <p:sp>
        <p:nvSpPr>
          <p:cNvPr id="4" name="Text 2"/>
          <p:cNvSpPr/>
          <p:nvPr/>
        </p:nvSpPr>
        <p:spPr>
          <a:xfrm>
            <a:off x="914400" y="1645920"/>
            <a:ext cx="7620000" cy="1618488"/>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DummyClassifier: baseline sin usar ninguna señal — el piso de referencia, no un candidato real.</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LogisticRegression: interpretable y auditable (PR-AUC CV=0.051); no captura interacciones no lineales.</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HistGradientBoosting: ya sin tuning supera con margen a la regresión logística (CV=0.062 vs. 0.051); no es un empate.</a:t>
            </a:r>
          </a:p>
        </p:txBody>
      </p:sp>
      <p:sp>
        <p:nvSpPr>
          <p:cNvPr id="5" name="Text 3"/>
          <p:cNvSpPr/>
          <p:nvPr/>
        </p:nvSpPr>
        <p:spPr>
          <a:xfrm>
            <a:off x="609600" y="3493008"/>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Modelo final y justificación:</a:t>
            </a:r>
            <a:endParaRPr lang="en-US" sz="1350" dirty="0"/>
          </a:p>
        </p:txBody>
      </p:sp>
      <p:sp>
        <p:nvSpPr>
          <p:cNvPr id="6" name="Text 4"/>
          <p:cNvSpPr/>
          <p:nvPr/>
        </p:nvSpPr>
        <p:spPr>
          <a:xfrm>
            <a:off x="609600" y="3886200"/>
            <a:ext cx="8083296" cy="57607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Se eligió HistGradientBoostingClassifier optimizado: superó con margen claro a la regresión logística en la comparación inicial (CV). Pero esa ventaja de CV no se sostuvo en test (ver slide 13) — la lección no es qué modelo ganó en CV, sino que ganar en CV dentro de train no garantiza generalizar hacia el futuro.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a:lnSpc>
                <a:spcPts val="3240"/>
              </a:lnSpc>
            </a:pPr>
            <a:r>
              <a:rPr lang="en-US" sz="3600" b="1" dirty="0">
                <a:solidFill>
                  <a:srgbClr val="EC6A16"/>
                </a:solidFill>
                <a:latin typeface="Calibri"/>
                <a:ea typeface="Calibri"/>
                <a:cs typeface="Calibri"/>
              </a:rPr>
              <a:t>Diseño Experimental y Validación</a:t>
            </a:r>
          </a:p>
        </p:txBody>
      </p:sp>
      <p:sp>
        <p:nvSpPr>
          <p:cNvPr id="3" name="Text 1"/>
          <p:cNvSpPr/>
          <p:nvPr/>
        </p:nvSpPr>
        <p:spPr>
          <a:xfrm>
            <a:off x="914400" y="1252728"/>
            <a:ext cx="7620000" cy="2697480"/>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Split: hold-out 70/15/15, particionado por orden temporal dentro de cada clase (no un corte cronológico global, que rompería el balance de clases) — el test queda compuesto, en su mayoría, por los clientes más recientes.</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Anti-leakage: solo features del primer pedido; preprocesador ajustado únicamente en train; censura de 90 días.</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CV: StratifiedKFold (3 folds), preservando la proporción de clases dado el desbalance severo.</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Tuning: RandomizedSearchCV (6 combinaciones) sobre max_iter, max_depth, learning_rate, l2_reg y min_samples_leaf.</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Umbral de decisión: no se fija en 0.5 (recall≈0 en la minoría) — se calibra maximizando F1 en validación; RANDOM_STATE=42 en todo paso con aleatoriedad.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09600" y="1249561"/>
            <a:ext cx="7924800" cy="670471"/>
          </a:xfrm>
          <a:prstGeom prst="rect">
            <a:avLst/>
          </a:prstGeom>
          <a:solidFill>
            <a:srgbClr val="F1F5F9"/>
          </a:solidFill>
          <a:ln/>
          <a:effectLst>
            <a:outerShdw blurRad="152400" dist="76200" dir="5400000" algn="bl" rotWithShape="0">
              <a:srgbClr val="000000">
                <a:alpha val="8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361"/>
          </a:xfrm>
          <a:prstGeom prst="rect">
            <a:avLst/>
          </a:prstGeom>
          <a:noFill/>
          <a:ln/>
        </p:spPr>
        <p:txBody>
          <a:bodyPr wrap="square" lIns="0" tIns="0" rIns="0" bIns="0" rtlCol="0" anchor="t"/>
          <a:lstStyle/>
          <a:p>
            <a:pPr indent="0">
              <a:lnSpc>
                <a:spcPts val="3240"/>
              </a:lnSpc>
              <a:buNone/>
            </a:pPr>
            <a:r>
              <a:rPr lang="en-US" sz="3600" b="1" dirty="0">
                <a:solidFill>
                  <a:srgbClr val="EC6A16"/>
                </a:solidFill>
                <a:latin typeface="Calibri"/>
                <a:ea typeface="Calibri"/>
                <a:cs typeface="Calibri"/>
              </a:rPr>
              <a:t>Resultados: Métricas del Modelo Final</a:t>
            </a:r>
          </a:p>
        </p:txBody>
      </p:sp>
      <p:sp>
        <p:nvSpPr>
          <p:cNvPr id="4" name="Text 2"/>
          <p:cNvSpPr/>
          <p:nvPr/>
        </p:nvSpPr>
        <p:spPr>
          <a:xfrm>
            <a:off x="838200" y="1478161"/>
            <a:ext cx="7616952" cy="393192"/>
          </a:xfrm>
          <a:prstGeom prst="rect">
            <a:avLst/>
          </a:prstGeom>
          <a:noFill/>
          <a:ln/>
        </p:spPr>
        <p:txBody>
          <a:bodyPr wrap="square" lIns="0" tIns="0" rIns="0" bIns="0" rtlCol="0" anchor="t"/>
          <a:lstStyle/>
          <a:p>
            <a:pPr marL="0" indent="0">
              <a:lnSpc>
                <a:spcPts val="1680"/>
              </a:lnSpc>
              <a:buNone/>
            </a:pPr>
            <a:endParaRPr lang="en-US" sz="1200" dirty="0"/>
            <a:r>
              <a:rPr lang="en-US" sz="1200" b="1" dirty="0">
                <a:solidFill>
                  <a:srgbClr val="475569"/>
                </a:solidFill>
                <a:latin typeface="Arial" pitchFamily="34" charset="0"/>
                <a:ea typeface="Arial" pitchFamily="34" charset="-122"/>
                <a:cs typeface="Arial" pitchFamily="34" charset="-120"/>
              </a:rPr>
              <a:t>PR-AUC: 0.037 vs. baseline 0.033 · ROC-AUC test 0.46 (val 0.13) · lift ≈1.00x en decil superior</a:t>
            </a:r>
          </a:p>
        </p:txBody>
      </p:sp>
      <p:sp>
        <p:nvSpPr>
          <p:cNvPr id="5" name="Text 3"/>
          <p:cNvSpPr/>
          <p:nvPr/>
        </p:nvSpPr>
        <p:spPr>
          <a:xfrm>
            <a:off x="609600" y="2148840"/>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¿Qué significa este resultado?</a:t>
            </a:r>
          </a:p>
        </p:txBody>
      </p:sp>
      <p:sp>
        <p:nvSpPr>
          <p:cNvPr id="6" name="Text 4"/>
          <p:cNvSpPr/>
          <p:nvPr/>
        </p:nvSpPr>
        <p:spPr>
          <a:xfrm>
            <a:off x="609600" y="2542032"/>
            <a:ext cx="8083296" cy="57607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El modelo no logra superar de forma útil un contacto aleatorio al evaluarse sobre clientes estrictamente posteriores en el tiempo — pese a que el mismo modelo lucía claramente superior en validación cruzada dentro de entrenamiento (slide 11). Es la evidencia más clara de que la validación anterior (con un split que no era realmente temporal) ocultaba un problema real de generalización.</a:t>
            </a:r>
          </a:p>
        </p:txBody>
      </p:sp>
      <p:sp>
        <p:nvSpPr>
          <p:cNvPr id="7" name="Text 5"/>
          <p:cNvSpPr/>
          <p:nvPr/>
        </p:nvSpPr>
        <p:spPr>
          <a:xfrm>
            <a:off x="609600" y="3346704"/>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En números de negocio:</a:t>
            </a:r>
          </a:p>
        </p:txBody>
      </p:sp>
      <p:sp>
        <p:nvSpPr>
          <p:cNvPr id="8" name="Text 6"/>
          <p:cNvSpPr/>
          <p:nvPr/>
        </p:nvSpPr>
        <p:spPr>
          <a:xfrm>
            <a:off x="609600" y="3739896"/>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Contactar al 10% de clientes con mayor score produce una tasa de recompra prácticamente igual a un contacto aleatorio (3.32% vs. 3.31%) — el detalle está en la siguiente slide.</a:t>
            </a:r>
          </a:p>
        </p:txBody>
      </p:sp>
      <p:sp>
        <p:nvSpPr>
          <p:cNvPr id="9" name="TextBox 8"/>
          <p:cNvSpPr txBox="1"/>
          <p:nvPr/>
        </p:nvSpPr>
        <p:spPr>
          <a:xfrm>
            <a:off x="609600" y="4233088"/>
            <a:ext cx="8083296" cy="860412"/>
          </a:xfrm>
          <a:prstGeom prst="rect">
            <a:avLst/>
          </a:prstGeom>
          <a:noFill/>
        </p:spPr>
        <p:txBody>
          <a:bodyPr wrap="square">
            <a:spAutoFit/>
          </a:bodyPr>
          <a:lstStyle/>
          <a:p>
            <a:r>
              <a:rPr sz="1200" b="0">
                <a:solidFill>
                  <a:srgbClr val="475569"/>
                </a:solidFill>
                <a:latin typeface="Arial"/>
              </a:rPr>
              <a:t>¿ROC-AUC 0.46 en test y 0.13 en validación? Ambos por debajo de 0.50: en validación, el modelo ordena PEOR que una moneda — en más de 8 de cada 10 comparaciones le da mayor score al cliente que NO recompró.</a:t>
            </a:r>
          </a:p>
          <a:p>
            <a:r>
              <a:rPr sz="1200" b="0">
                <a:solidFill>
                  <a:srgbClr val="475569"/>
                </a:solidFill>
                <a:latin typeface="Arial"/>
              </a:rPr>
              <a:t>¿Brier score 0.0325? Sigue siendo bajo, pero ahora sabemos que eso no certifica nada: con solo ~3.3% de recompra, hasta un modelo sin ninguna capacidad de discriminación real obtiene un Brier score bajo.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600" y="1249561"/>
            <a:ext cx="7924800" cy="1249561"/>
          </a:xfrm>
          <a:prstGeom prst="rect">
            <a:avLst/>
          </a:prstGeom>
          <a:solidFill>
            <a:srgbClr val="F1F5F9"/>
          </a:solidFill>
          <a:ln/>
          <a:effectLst>
            <a:outerShdw blurRad="152400" dist="76200" dir="5400000" algn="bl" rotWithShape="0">
              <a:srgbClr val="000000">
                <a:alpha val="8000"/>
              </a:srgbClr>
            </a:outerShdw>
          </a:effectLst>
        </p:spPr>
        <p:txBody>
          <a:bodyPr wrap="none" lIns="0" tIns="0" rIns="0" bIns="0" rtlCol="0" anchor="ctr">
            <a:normAutofit/>
          </a:bodyPr>
          <a:lstStyle/>
          <a:p>
            <a:pPr marL="0" indent="0">
              <a:buNone/>
            </a:pPr>
            <a:endParaRPr lang="en-US" dirty="0"/>
          </a:p>
        </p:txBody>
      </p:sp>
      <p:sp>
        <p:nvSpPr>
          <p:cNvPr id="3" name="Text 1"/>
          <p:cNvSpPr/>
          <p:nvPr/>
        </p:nvSpPr>
        <p:spPr>
          <a:xfrm>
            <a:off x="609600" y="3284339"/>
            <a:ext cx="7924800" cy="1249561"/>
          </a:xfrm>
          <a:prstGeom prst="rect">
            <a:avLst/>
          </a:prstGeom>
          <a:solidFill>
            <a:srgbClr val="F1F5F9"/>
          </a:solidFill>
          <a:ln/>
          <a:effectLst>
            <a:outerShdw blurRad="152400" dist="76200" dir="5400000" algn="bl" rotWithShape="0">
              <a:srgbClr val="000000">
                <a:alpha val="8000"/>
              </a:srgbClr>
            </a:outerShdw>
          </a:effectLst>
        </p:spPr>
        <p:txBody>
          <a:bodyPr wrap="none" lIns="0" tIns="0" rIns="0" bIns="0" rtlCol="0" anchor="ctr">
            <a:normAutofit/>
          </a:bodyPr>
          <a:lstStyle/>
          <a:p>
            <a:pPr marL="0" indent="0">
              <a:buNone/>
            </a:pPr>
            <a:endParaRPr lang="en-US" dirty="0"/>
          </a:p>
        </p:txBody>
      </p:sp>
      <p:sp>
        <p:nvSpPr>
          <p:cNvPr id="4" name="Text 2"/>
          <p:cNvSpPr/>
          <p:nvPr/>
        </p:nvSpPr>
        <p:spPr>
          <a:xfrm>
            <a:off x="609600" y="609600"/>
            <a:ext cx="8083296" cy="411361"/>
          </a:xfrm>
          <a:prstGeom prst="rect">
            <a:avLst/>
          </a:prstGeom>
          <a:noFill/>
          <a:ln/>
        </p:spPr>
        <p:txBody>
          <a:bodyPr wrap="square" lIns="0" tIns="0" rIns="0" bIns="0" rtlCol="0" anchor="t"/>
          <a:lstStyle/>
          <a:p>
            <a:pPr>
              <a:lnSpc>
                <a:spcPts val="3240"/>
              </a:lnSpc>
            </a:pPr>
            <a:r>
              <a:rPr lang="en-US" sz="3600" b="1" dirty="0">
                <a:solidFill>
                  <a:srgbClr val="EC6A16"/>
                </a:solidFill>
                <a:latin typeface="Calibri"/>
                <a:ea typeface="Calibri"/>
                <a:cs typeface="Calibri"/>
              </a:rPr>
              <a:t>Resultados: Impacto de Negocio</a:t>
            </a:r>
          </a:p>
        </p:txBody>
      </p:sp>
      <p:sp>
        <p:nvSpPr>
          <p:cNvPr id="5" name="Text 3"/>
          <p:cNvSpPr/>
          <p:nvPr/>
        </p:nvSpPr>
        <p:spPr>
          <a:xfrm>
            <a:off x="914400" y="1554361"/>
            <a:ext cx="7461504" cy="274290"/>
          </a:xfrm>
          <a:prstGeom prst="rect">
            <a:avLst/>
          </a:prstGeom>
          <a:noFill/>
          <a:ln/>
        </p:spPr>
        <p:txBody>
          <a:bodyPr wrap="square" lIns="0" tIns="0" rIns="0" bIns="0" rtlCol="0" anchor="t"/>
          <a:lstStyle/>
          <a:p>
            <a:pPr marL="0" indent="0">
              <a:lnSpc>
                <a:spcPts val="2160"/>
              </a:lnSpc>
              <a:buNone/>
            </a:pPr>
            <a:endParaRPr lang="en-US" sz="1800" dirty="0"/>
            <a:r>
              <a:rPr lang="en-US" sz="1800" b="1" dirty="0">
                <a:solidFill>
                  <a:srgbClr val="0284C7"/>
                </a:solidFill>
                <a:latin typeface="Arial" pitchFamily="34" charset="0"/>
                <a:ea typeface="Arial" pitchFamily="34" charset="-122"/>
                <a:cs typeface="Arial" pitchFamily="34" charset="-120"/>
              </a:rPr>
              <a:t>El score como herramienta de priorización</a:t>
            </a:r>
          </a:p>
        </p:txBody>
      </p:sp>
      <p:sp>
        <p:nvSpPr>
          <p:cNvPr id="6" name="Text 4"/>
          <p:cNvSpPr/>
          <p:nvPr/>
        </p:nvSpPr>
        <p:spPr>
          <a:xfrm>
            <a:off x="914400" y="1981051"/>
            <a:ext cx="7461504" cy="213271"/>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En vez de contactar a todos los clientes por igual, marketing puede ordenar la base por score de recompra y enfocar el presupuesto en el extremo superior.</a:t>
            </a:r>
          </a:p>
        </p:txBody>
      </p:sp>
      <p:sp>
        <p:nvSpPr>
          <p:cNvPr id="7" name="Text 5"/>
          <p:cNvSpPr/>
          <p:nvPr/>
        </p:nvSpPr>
        <p:spPr>
          <a:xfrm>
            <a:off x="914400" y="3589139"/>
            <a:ext cx="7461504" cy="274290"/>
          </a:xfrm>
          <a:prstGeom prst="rect">
            <a:avLst/>
          </a:prstGeom>
          <a:noFill/>
          <a:ln/>
        </p:spPr>
        <p:txBody>
          <a:bodyPr wrap="square" lIns="0" tIns="0" rIns="0" bIns="0" rtlCol="0" anchor="t"/>
          <a:lstStyle/>
          <a:p>
            <a:pPr marL="0" indent="0">
              <a:lnSpc>
                <a:spcPts val="2160"/>
              </a:lnSpc>
              <a:buNone/>
            </a:pPr>
            <a:endParaRPr lang="en-US" sz="1800" dirty="0"/>
            <a:r>
              <a:rPr lang="en-US" sz="1800" b="1" dirty="0">
                <a:solidFill>
                  <a:srgbClr val="0284C7"/>
                </a:solidFill>
                <a:latin typeface="Arial" pitchFamily="34" charset="0"/>
                <a:ea typeface="Arial" pitchFamily="34" charset="-122"/>
                <a:cs typeface="Arial" pitchFamily="34" charset="-120"/>
              </a:rPr>
              <a:t>Lift ≈1.00x en el decil superior: sin ganancia real</a:t>
            </a:r>
          </a:p>
        </p:txBody>
      </p:sp>
      <p:sp>
        <p:nvSpPr>
          <p:cNvPr id="8" name="Text 6"/>
          <p:cNvSpPr/>
          <p:nvPr/>
        </p:nvSpPr>
        <p:spPr>
          <a:xfrm>
            <a:off x="914400" y="4015829"/>
            <a:ext cx="7461504" cy="213271"/>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El 10% de clientes con mayor score recompra a una tasa de 3.32%, prácticamente idéntica al 3.31% de un contacto aleatorio: con el modelo actual, marketing no ganaría nada frente a contactar clientes al azar.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a:lnSpc>
                <a:spcPts val="3240"/>
              </a:lnSpc>
            </a:pPr>
            <a:r>
              <a:rPr lang="en-US" sz="3600" b="1" dirty="0">
                <a:solidFill>
                  <a:srgbClr val="EC6A16"/>
                </a:solidFill>
                <a:latin typeface="Calibri"/>
                <a:ea typeface="Calibri"/>
                <a:cs typeface="Calibri"/>
              </a:rPr>
              <a:t>Resultados: Qué Aprendió el Modelo</a:t>
            </a:r>
          </a:p>
        </p:txBody>
      </p:sp>
      <p:sp>
        <p:nvSpPr>
          <p:cNvPr id="3" name="Text 1"/>
          <p:cNvSpPr/>
          <p:nvPr/>
        </p:nvSpPr>
        <p:spPr>
          <a:xfrm>
            <a:off x="914400" y="1252728"/>
            <a:ext cx="7620000" cy="2880360"/>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Una categoría de producto (muebles/decoración) y el valor/forma de pago del pedido (cuotas máximas, precio por ítem) encabezan la lista de señales más influyentes.</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Le siguen el peso del producto, el flete y la cantidad de ítems del pedido.</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Otras categorías (deportes/ocio, cool stuff) y, por primera vez, el estado CE aportan señal adicional, aunque menor.</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review_score sigue sin figurar entre las 15 variables más influyentes; customer_state sí aparece esta vez (un estado, CE) — pero dado el colapso de desempeño general (slide 13), esta importancia ya no debe leerse como evidencia de una señal de negocio útil.</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El modelo sigue sin apoyarse en una variable dominante, pero esto ya no es una fortaleza narrativa: es consistente con que el modelo, en conjunto, dejó de discriminar de forma útil bajo la validación temporal correcta (slide 13).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3600" b="1" dirty="0">
                <a:solidFill>
                  <a:srgbClr val="EC6A16"/>
                </a:solidFill>
                <a:latin typeface="Calibri"/>
                <a:ea typeface="Calibri"/>
                <a:cs typeface="Calibri"/>
              </a:rPr>
              <a:t>Resultados: Límites y Casos Atípicos</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Errores típicos:</a:t>
            </a:r>
          </a:p>
        </p:txBody>
      </p:sp>
      <p:sp>
        <p:nvSpPr>
          <p:cNvPr id="4" name="Text 2"/>
          <p:cNvSpPr/>
          <p:nvPr/>
        </p:nvSpPr>
        <p:spPr>
          <a:xfrm>
            <a:off x="609600" y="1645920"/>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El modelo pierde precisión en pedidos atípicos: muy pocos ítems, categoría poco frecuente o combinaciones de pago inusuales — casos con poca base histórica similar.</a:t>
            </a:r>
          </a:p>
        </p:txBody>
      </p:sp>
      <p:sp>
        <p:nvSpPr>
          <p:cNvPr id="5" name="Text 3"/>
          <p:cNvSpPr/>
          <p:nvPr/>
        </p:nvSpPr>
        <p:spPr>
          <a:xfrm>
            <a:off x="609600" y="2267712"/>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Desempeño por subgrupo:</a:t>
            </a:r>
          </a:p>
        </p:txBody>
      </p:sp>
      <p:sp>
        <p:nvSpPr>
          <p:cNvPr id="6" name="Text 4"/>
          <p:cNvSpPr/>
          <p:nvPr/>
        </p:nvSpPr>
        <p:spPr>
          <a:xfrm>
            <a:off x="609600" y="2660904"/>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b="0">
                <a:solidFill>
                  <a:srgbClr val="475569"/>
                </a:solidFill>
                <a:latin typeface="Arial" pitchFamily="34" charset="0"/>
                <a:ea typeface="Arial" pitchFamily="34" charset="-122"/>
                <a:cs typeface="Arial" pitchFamily="34" charset="-120"/>
              </a:rPr>
              <a:t>Por categoría, sin degradación sistemática. Por customer_state, PR-AUC 0.025–0.208 en 24 de 27 estados; 3 sin casos de recompra en test quedan sin evaluar — orientativo.</a:t>
            </a:r>
          </a:p>
        </p:txBody>
      </p:sp>
      <p:sp>
        <p:nvSpPr>
          <p:cNvPr id="7" name="Text 5"/>
          <p:cNvSpPr/>
          <p:nvPr/>
        </p:nvSpPr>
        <p:spPr>
          <a:xfrm>
            <a:off x="609600" y="3282696"/>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Qué NO puede capturar el modelo:</a:t>
            </a:r>
          </a:p>
        </p:txBody>
      </p:sp>
      <p:sp>
        <p:nvSpPr>
          <p:cNvPr id="8" name="Text 6"/>
          <p:cNvSpPr/>
          <p:nvPr/>
        </p:nvSpPr>
        <p:spPr>
          <a:xfrm>
            <a:off x="609600" y="3675888"/>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Factores fuera del dataset —competencia, necesidad real del producto, campañas externas— probablemente explican buena parte de lo que el modelo no captura.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indent="0">
              <a:lnSpc>
                <a:spcPts val="3240"/>
              </a:lnSpc>
              <a:buNone/>
            </a:pPr>
            <a:r>
              <a:rPr lang="en-US" sz="3600" b="1" dirty="0">
                <a:solidFill>
                  <a:srgbClr val="EC6A16"/>
                </a:solidFill>
                <a:latin typeface="Calibri"/>
                <a:ea typeface="Calibri"/>
                <a:cs typeface="Calibri"/>
              </a:rPr>
              <a:t>Segmentación RFM: Hallazgos</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Los 4 segmentos (93,358 clientes):</a:t>
            </a:r>
          </a:p>
        </p:txBody>
      </p:sp>
      <p:sp>
        <p:nvSpPr>
          <p:cNvPr id="4" name="Text 2"/>
          <p:cNvSpPr/>
          <p:nvPr/>
        </p:nvSpPr>
        <p:spPr>
          <a:xfrm>
            <a:off x="914400" y="1645920"/>
            <a:ext cx="7620000" cy="1609344"/>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Premium recientes (34.7%): monto promedio más alto ($251) — la base más valiosa hoy.</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Bajo ticket reciente (33.2%): activos pero de bajo monto ($44) — oportunidad de upsell.</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En riesgo/bajo valor (29.1%): recencia ~426 días, el más numeroso en riesgo de churn total.</a:t>
            </a:r>
          </a:p>
          <a:p>
            <a:pPr marL="342900" indent="-342900">
              <a:lnSpc>
                <a:spcPts val="2160"/>
              </a:lnSpc>
              <a:buSzPct val="100000"/>
              <a:buChar char="•"/>
            </a:pPr>
            <a:endParaRPr lang="en-US" sz="1200" dirty="0"/>
            <a:r>
              <a:rPr lang="en-US" sz="1200" b="1" dirty="0">
                <a:solidFill>
                  <a:srgbClr val="475569"/>
                </a:solidFill>
                <a:latin typeface="Arial" pitchFamily="34" charset="0"/>
                <a:ea typeface="Arial" pitchFamily="34" charset="-122"/>
                <a:cs typeface="Arial" pitchFamily="34" charset="-120"/>
              </a:rPr>
              <a:t>Recompradores (3.0%): único con frecuencia &gt;1 — el objetivo de referencia del modelo.</a:t>
            </a:r>
          </a:p>
        </p:txBody>
      </p:sp>
      <p:sp>
        <p:nvSpPr>
          <p:cNvPr id="5" name="Text 3"/>
          <p:cNvSpPr/>
          <p:nvPr/>
        </p:nvSpPr>
        <p:spPr>
          <a:xfrm>
            <a:off x="609600" y="3483864"/>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Prioridad de negocio:</a:t>
            </a:r>
          </a:p>
        </p:txBody>
      </p:sp>
      <p:sp>
        <p:nvSpPr>
          <p:cNvPr id="6" name="Text 4"/>
          <p:cNvSpPr/>
          <p:nvPr/>
        </p:nvSpPr>
        <p:spPr>
          <a:xfrm>
            <a:off x="609600" y="3877056"/>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El segmento 'en riesgo/bajo valor' es la mayor oportunidad de reactivación: es casi 10 veces más numeroso que los recompradores actuales.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a:lnSpc>
                <a:spcPts val="3240"/>
              </a:lnSpc>
            </a:pPr>
            <a:r>
              <a:rPr lang="en-US" sz="3600" b="1" dirty="0" err="1">
                <a:solidFill>
                  <a:srgbClr val="EC6A16"/>
                </a:solidFill>
                <a:latin typeface="Calibri"/>
                <a:ea typeface="Calibri"/>
                <a:cs typeface="Calibri"/>
              </a:rPr>
              <a:t>Prototipo</a:t>
            </a:r>
            <a:r>
              <a:rPr lang="en-US" sz="3600" b="1" dirty="0">
                <a:solidFill>
                  <a:srgbClr val="EC6A16"/>
                </a:solidFill>
                <a:latin typeface="Calibri"/>
                <a:ea typeface="Calibri"/>
                <a:cs typeface="Calibri"/>
              </a:rPr>
              <a:t> y </a:t>
            </a:r>
            <a:r>
              <a:rPr lang="en-US" sz="3600" b="1" dirty="0" err="1">
                <a:solidFill>
                  <a:srgbClr val="EC6A16"/>
                </a:solidFill>
                <a:latin typeface="Calibri"/>
                <a:ea typeface="Calibri"/>
                <a:cs typeface="Calibri"/>
              </a:rPr>
              <a:t>Despliegue</a:t>
            </a:r>
            <a:r>
              <a:rPr lang="en-US" sz="3600" b="1" dirty="0">
                <a:solidFill>
                  <a:srgbClr val="EC6A16"/>
                </a:solidFill>
                <a:latin typeface="Calibri"/>
                <a:ea typeface="Calibri"/>
                <a:cs typeface="Calibri"/>
              </a:rPr>
              <a:t> (</a:t>
            </a:r>
            <a:r>
              <a:rPr lang="en-US" sz="3600" b="1" dirty="0" err="1">
                <a:solidFill>
                  <a:srgbClr val="EC6A16"/>
                </a:solidFill>
                <a:latin typeface="Calibri"/>
                <a:ea typeface="Calibri"/>
                <a:cs typeface="Calibri"/>
              </a:rPr>
              <a:t>Opcional</a:t>
            </a:r>
            <a:r>
              <a:rPr lang="en-US" sz="3600" b="1" dirty="0">
                <a:solidFill>
                  <a:srgbClr val="EC6A16"/>
                </a:solidFill>
                <a:latin typeface="Calibri"/>
                <a:ea typeface="Calibri"/>
                <a:cs typeface="Calibri"/>
              </a:rPr>
              <a:t>)</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Arquitectura propuesta:</a:t>
            </a:r>
            <a:endParaRPr lang="en-US" sz="1350" dirty="0"/>
          </a:p>
        </p:txBody>
      </p:sp>
      <p:sp>
        <p:nvSpPr>
          <p:cNvPr id="4" name="Text 2"/>
          <p:cNvSpPr/>
          <p:nvPr/>
        </p:nvSpPr>
        <p:spPr>
          <a:xfrm>
            <a:off x="609600" y="1645920"/>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Entrada (features del primer pedido) → Inferencia (predict_one aplica el preprocessor y el modelo) → Integración (score y decisión bajo el umbral calibrado, listos para CRM).</a:t>
            </a:r>
          </a:p>
        </p:txBody>
      </p:sp>
      <p:sp>
        <p:nvSpPr>
          <p:cNvPr id="5" name="Text 3"/>
          <p:cNvSpPr/>
          <p:nvPr/>
        </p:nvSpPr>
        <p:spPr>
          <a:xfrm>
            <a:off x="609600" y="2267712"/>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Operación:</a:t>
            </a:r>
            <a:endParaRPr lang="en-US" sz="1350" dirty="0"/>
          </a:p>
        </p:txBody>
      </p:sp>
      <p:sp>
        <p:nvSpPr>
          <p:cNvPr id="6" name="Text 4"/>
          <p:cNvSpPr/>
          <p:nvPr/>
        </p:nvSpPr>
        <p:spPr>
          <a:xfrm>
            <a:off x="914400" y="2660904"/>
            <a:ext cx="7620000" cy="1435608"/>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Latencia: milisegundos por registro — modelo liviano (62 rondas de boosting entrenadas, techo buscado de 150), compatible con un endpoint síncrono.</a:t>
            </a:r>
          </a:p>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Costo: bajo — sin GPU, footprint del modelo serializado de apenas ~250 KB.</a:t>
            </a:r>
          </a:p>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Monitoreo: drift de las features más importantes + reentrenamiento periódico (p. ej. trimestral), dado que el dataset de entrenamiento es una fotografía estática.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3600" b="1" dirty="0">
                <a:solidFill>
                  <a:srgbClr val="EC6A16"/>
                </a:solidFill>
                <a:latin typeface="Calibri"/>
                <a:ea typeface="Calibri"/>
                <a:cs typeface="Calibri"/>
              </a:rPr>
              <a:t>4. Ética: Sesgos y Equidad</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customer_state: uso correcto</a:t>
            </a:r>
          </a:p>
        </p:txBody>
      </p:sp>
      <p:sp>
        <p:nvSpPr>
          <p:cNvPr id="4" name="Text 2"/>
          <p:cNvSpPr/>
          <p:nvPr/>
        </p:nvSpPr>
        <p:spPr>
          <a:xfrm>
            <a:off x="609600" y="1645920"/>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Se usa únicamente como feature predictiva, nunca como criterio de exclusión de campañas — evita decisiones discriminatorias por geografía.</a:t>
            </a:r>
          </a:p>
        </p:txBody>
      </p:sp>
      <p:sp>
        <p:nvSpPr>
          <p:cNvPr id="5" name="Text 3"/>
          <p:cNvSpPr/>
          <p:nvPr/>
        </p:nvSpPr>
        <p:spPr>
          <a:xfrm>
            <a:off x="609600" y="2267712"/>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Desempeño por subgrupo:</a:t>
            </a:r>
          </a:p>
        </p:txBody>
      </p:sp>
      <p:sp>
        <p:nvSpPr>
          <p:cNvPr id="6" name="Text 4"/>
          <p:cNvSpPr/>
          <p:nvPr/>
        </p:nvSpPr>
        <p:spPr>
          <a:xfrm>
            <a:off x="609600" y="2660904"/>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b="0">
                <a:solidFill>
                  <a:srgbClr val="475569"/>
                </a:solidFill>
                <a:latin typeface="Arial" pitchFamily="34" charset="0"/>
                <a:ea typeface="Arial" pitchFamily="34" charset="-122"/>
                <a:cs typeface="Arial" pitchFamily="34" charset="-120"/>
              </a:rPr>
              <a:t>Por categoría y por customer_state, PR-AUC 0.025–0.208 en 24 de 27 estados, sin disparidad severa; 3 sin casos de recompra quedan sin evaluar — monitorear en producción.</a:t>
            </a:r>
          </a:p>
        </p:txBody>
      </p:sp>
      <p:sp>
        <p:nvSpPr>
          <p:cNvPr id="7" name="Text 5"/>
          <p:cNvSpPr/>
          <p:nvPr/>
        </p:nvSpPr>
        <p:spPr>
          <a:xfrm>
            <a:off x="609600" y="3282696"/>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Segmentación RFM sin estigmatización:</a:t>
            </a:r>
          </a:p>
        </p:txBody>
      </p:sp>
      <p:sp>
        <p:nvSpPr>
          <p:cNvPr id="8" name="Text 6"/>
          <p:cNvSpPr/>
          <p:nvPr/>
        </p:nvSpPr>
        <p:spPr>
          <a:xfrm>
            <a:off x="609600" y="3675888"/>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Las etiquetas de segmento (p. ej. 'en_riesgo_bajo_valor') se derivan del comportamiento real de cada cluster, evitando etiquetas cargadas de valor.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3600" b="1" dirty="0">
                <a:solidFill>
                  <a:srgbClr val="EC6A16"/>
                </a:solidFill>
                <a:latin typeface="Calibri"/>
                <a:ea typeface="Calibri"/>
                <a:cs typeface="Calibri"/>
              </a:rPr>
              <a:t>Ética: Privacidad y Limitaciones</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Privacidad y seguridad de datos:</a:t>
            </a:r>
          </a:p>
        </p:txBody>
      </p:sp>
      <p:sp>
        <p:nvSpPr>
          <p:cNvPr id="4" name="Text 2"/>
          <p:cNvSpPr/>
          <p:nvPr/>
        </p:nvSpPr>
        <p:spPr>
          <a:xfrm>
            <a:off x="609600" y="1645920"/>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IDs pseudonimizados, sin nombres ni contacto; customer_city se excluyó por riesgo de reidentificación. Licencia CC BY-NC-SA 4.0, uso académico.</a:t>
            </a:r>
          </a:p>
        </p:txBody>
      </p:sp>
      <p:sp>
        <p:nvSpPr>
          <p:cNvPr id="5" name="Text 3"/>
          <p:cNvSpPr/>
          <p:nvPr/>
        </p:nvSpPr>
        <p:spPr>
          <a:xfrm>
            <a:off x="609600" y="2267712"/>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En un despliegue real:</a:t>
            </a:r>
          </a:p>
        </p:txBody>
      </p:sp>
      <p:sp>
        <p:nvSpPr>
          <p:cNvPr id="6" name="Text 4"/>
          <p:cNvSpPr/>
          <p:nvPr/>
        </p:nvSpPr>
        <p:spPr>
          <a:xfrm>
            <a:off x="609600" y="2660904"/>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Sería necesario asegurar consentimiento, opciones de opt-out, control de acceso y cumplimiento normativo local equivalente a GDPR.</a:t>
            </a:r>
          </a:p>
        </p:txBody>
      </p:sp>
      <p:sp>
        <p:nvSpPr>
          <p:cNvPr id="7" name="Text 5"/>
          <p:cNvSpPr/>
          <p:nvPr/>
        </p:nvSpPr>
        <p:spPr>
          <a:xfrm>
            <a:off x="609600" y="3282696"/>
            <a:ext cx="8083296" cy="239911"/>
          </a:xfrm>
          <a:prstGeom prst="rect">
            <a:avLst/>
          </a:prstGeom>
          <a:noFill/>
          <a:ln/>
        </p:spPr>
        <p:txBody>
          <a:bodyPr wrap="square" lIns="0" tIns="0" rIns="0" bIns="0" rtlCol="0" anchor="t"/>
          <a:lstStyle/>
          <a:p>
            <a:pPr marL="0" indent="0">
              <a:lnSpc>
                <a:spcPts val="1890"/>
              </a:lnSpc>
              <a:buNone/>
            </a:pPr>
            <a:endParaRPr lang="en-US" sz="1350" dirty="0"/>
            <a:r>
              <a:rPr lang="en-US" sz="1350" dirty="0">
                <a:solidFill>
                  <a:srgbClr val="475569"/>
                </a:solidFill>
                <a:latin typeface="Arial" pitchFamily="34" charset="0"/>
                <a:ea typeface="Arial" pitchFamily="34" charset="-122"/>
                <a:cs typeface="Arial" pitchFamily="34" charset="-120"/>
              </a:rPr>
              <a:t>Uso responsable del score:</a:t>
            </a:r>
          </a:p>
        </p:txBody>
      </p:sp>
      <p:sp>
        <p:nvSpPr>
          <p:cNvPr id="8" name="Text 6"/>
          <p:cNvSpPr/>
          <p:nvPr/>
        </p:nvSpPr>
        <p:spPr>
          <a:xfrm>
            <a:off x="609600" y="3675888"/>
            <a:ext cx="8083296" cy="39319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Señal predictiva débil: usar como insumo de priorización con supervisión humana, nunca como filtro automático de exclusión de campañas.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a:lnSpc>
                <a:spcPts val="3240"/>
              </a:lnSpc>
            </a:pPr>
            <a:r>
              <a:rPr lang="en-US" sz="3600" b="1" dirty="0">
                <a:solidFill>
                  <a:srgbClr val="EC6A16"/>
                </a:solidFill>
                <a:latin typeface="Calibri"/>
                <a:ea typeface="Calibri"/>
                <a:cs typeface="Calibri"/>
              </a:rPr>
              <a:t>5. Conclusiones y Trabajo Futuro</a:t>
            </a:r>
          </a:p>
        </p:txBody>
      </p:sp>
      <p:sp>
        <p:nvSpPr>
          <p:cNvPr id="3" name="Text 1"/>
          <p:cNvSpPr/>
          <p:nvPr/>
        </p:nvSpPr>
        <p:spPr>
          <a:xfrm>
            <a:off x="609600" y="1252728"/>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Conclusiones (3–5):</a:t>
            </a:r>
            <a:endParaRPr lang="en-US" sz="1350" dirty="0"/>
          </a:p>
        </p:txBody>
      </p:sp>
      <p:sp>
        <p:nvSpPr>
          <p:cNvPr id="4" name="Text 2"/>
          <p:cNvSpPr/>
          <p:nvPr/>
        </p:nvSpPr>
        <p:spPr>
          <a:xfrm>
            <a:off x="914400" y="1645920"/>
            <a:ext cx="7620000" cy="1069848"/>
          </a:xfrm>
          <a:prstGeom prst="rect">
            <a:avLst/>
          </a:prstGeom>
          <a:noFill/>
          <a:ln/>
        </p:spPr>
        <p:txBody>
          <a:bodyPr wrap="square" lIns="0" tIns="0" rIns="0" bIns="0" rtlCol="0" anchor="t"/>
          <a:lstStyle/>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El hallazgo más importante es metodológico: una validación cruzada dentro de train (o un split aleatorio) puede ocultar por completo la falta de generalización hacia el futuro.</a:t>
            </a:r>
          </a:p>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Modelo reproducible y sin fuga de información, pero con lift ≈1.00x bajo la validación temporal correcta: no supera a un contacto aleatorio.</a:t>
            </a:r>
          </a:p>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Ningún driver individual —ni review_score— es fuerte por sí solo: el patrón es multi-causal.</a:t>
            </a:r>
          </a:p>
          <a:p>
            <a:pPr marL="342900" indent="-342900">
              <a:lnSpc>
                <a:spcPts val="2160"/>
              </a:lnSpc>
              <a:buSzPct val="100000"/>
              <a:buChar char="•"/>
            </a:pPr>
            <a:endParaRPr lang="en-US" sz="1200" dirty="0"/>
            <a:r>
              <a:rPr lang="en-US" sz="1200" dirty="0">
                <a:solidFill>
                  <a:srgbClr val="475569"/>
                </a:solidFill>
                <a:latin typeface="Arial" pitchFamily="34" charset="0"/>
                <a:ea typeface="Arial" pitchFamily="34" charset="-122"/>
                <a:cs typeface="Arial" pitchFamily="34" charset="-120"/>
              </a:rPr>
              <a:t>RFM revela un segmento 'en riesgo/bajo valor' (29%): la mayor oportunidad de reactivación.</a:t>
            </a:r>
          </a:p>
        </p:txBody>
      </p:sp>
      <p:sp>
        <p:nvSpPr>
          <p:cNvPr id="5" name="Text 3"/>
          <p:cNvSpPr/>
          <p:nvPr/>
        </p:nvSpPr>
        <p:spPr>
          <a:xfrm>
            <a:off x="609600" y="2944368"/>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Limitaciones:</a:t>
            </a:r>
            <a:endParaRPr lang="en-US" sz="1350" dirty="0"/>
          </a:p>
        </p:txBody>
      </p:sp>
      <p:sp>
        <p:nvSpPr>
          <p:cNvPr id="6" name="Text 4"/>
          <p:cNvSpPr/>
          <p:nvPr/>
        </p:nvSpPr>
        <p:spPr>
          <a:xfrm>
            <a:off x="609600" y="3337560"/>
            <a:ext cx="8083296" cy="21031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Bajo validación temporal correcta, el modelo no generaliza hacia el futuro (lift ≈1.00x); la selección de hiperparámetros actual no detecta este problema porque solo usa CV dentro de train.</a:t>
            </a:r>
          </a:p>
        </p:txBody>
      </p:sp>
      <p:sp>
        <p:nvSpPr>
          <p:cNvPr id="7" name="Text 5"/>
          <p:cNvSpPr/>
          <p:nvPr/>
        </p:nvSpPr>
        <p:spPr>
          <a:xfrm>
            <a:off x="609600" y="3776472"/>
            <a:ext cx="8083296" cy="239911"/>
          </a:xfrm>
          <a:prstGeom prst="rect">
            <a:avLst/>
          </a:prstGeom>
          <a:noFill/>
          <a:ln/>
        </p:spPr>
        <p:txBody>
          <a:bodyPr wrap="square" lIns="0" tIns="0" rIns="0" bIns="0" rtlCol="0" anchor="t"/>
          <a:lstStyle/>
          <a:p>
            <a:pPr marL="0" indent="0">
              <a:lnSpc>
                <a:spcPts val="1890"/>
              </a:lnSpc>
              <a:buNone/>
            </a:pPr>
            <a:r>
              <a:rPr lang="en-US" sz="1350" dirty="0">
                <a:solidFill>
                  <a:srgbClr val="475569"/>
                </a:solidFill>
                <a:latin typeface="Arial" pitchFamily="34" charset="0"/>
                <a:ea typeface="Arial" pitchFamily="34" charset="-122"/>
                <a:cs typeface="Arial" pitchFamily="34" charset="-120"/>
              </a:rPr>
              <a:t>Trabajo futuro:</a:t>
            </a:r>
            <a:endParaRPr lang="en-US" sz="1350" dirty="0"/>
          </a:p>
        </p:txBody>
      </p:sp>
      <p:sp>
        <p:nvSpPr>
          <p:cNvPr id="8" name="Text 6"/>
          <p:cNvSpPr/>
          <p:nvPr/>
        </p:nvSpPr>
        <p:spPr>
          <a:xfrm>
            <a:off x="609600" y="4169664"/>
            <a:ext cx="8083296" cy="210312"/>
          </a:xfrm>
          <a:prstGeom prst="rect">
            <a:avLst/>
          </a:prstGeom>
          <a:noFill/>
          <a:ln/>
        </p:spPr>
        <p:txBody>
          <a:bodyPr wrap="square" lIns="0" tIns="0" rIns="0" bIns="0" rtlCol="0" anchor="t"/>
          <a:lstStyle/>
          <a:p>
            <a:pPr marL="0" indent="0">
              <a:lnSpc>
                <a:spcPts val="1680"/>
              </a:lnSpc>
              <a:buNone/>
            </a:pPr>
            <a:endParaRPr lang="en-US" sz="1200" dirty="0"/>
            <a:r>
              <a:rPr lang="en-US" sz="1200" dirty="0">
                <a:solidFill>
                  <a:srgbClr val="475569"/>
                </a:solidFill>
                <a:latin typeface="Arial" pitchFamily="34" charset="0"/>
                <a:ea typeface="Arial" pitchFamily="34" charset="-122"/>
                <a:cs typeface="Arial" pitchFamily="34" charset="-120"/>
              </a:rPr>
              <a:t>Prioridad: investigar el desplazamiento temporal y usar validación explícitamente temporal en la selección de modelos. Luego: clickstream/marketing, más modelos, recomendador complementario y validación A/B por segmento.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3600" b="1" dirty="0">
                <a:solidFill>
                  <a:srgbClr val="EC6A16"/>
                </a:solidFill>
                <a:latin typeface="Calibri"/>
                <a:ea typeface="Calibri"/>
                <a:cs typeface="Calibri"/>
              </a:rPr>
              <a:t>6. Anexos y Entregables</a:t>
            </a:r>
          </a:p>
        </p:txBody>
      </p:sp>
      <p:sp>
        <p:nvSpPr>
          <p:cNvPr id="3" name="Text 1"/>
          <p:cNvSpPr/>
          <p:nvPr/>
        </p:nvSpPr>
        <p:spPr>
          <a:xfrm>
            <a:off x="914400" y="1249561"/>
            <a:ext cx="7620000" cy="1828651"/>
          </a:xfrm>
          <a:prstGeom prst="rect">
            <a:avLst/>
          </a:prstGeom>
          <a:noFill/>
          <a:ln/>
        </p:spPr>
        <p:txBody>
          <a:bodyPr wrap="square" lIns="0" tIns="0" rIns="0" bIns="0" rtlCol="0" anchor="t"/>
          <a:lstStyle/>
          <a:p>
            <a:pPr marL="342900" indent="-342900">
              <a:lnSpc>
                <a:spcPts val="2160"/>
              </a:lnSpc>
              <a:buSzPct val="100000"/>
              <a:buChar char="•"/>
            </a:pPr>
            <a:r>
              <a:rPr lang="en-US" sz="1200" b="1" dirty="0">
                <a:solidFill>
                  <a:srgbClr val="475569"/>
                </a:solidFill>
                <a:latin typeface="Arial" pitchFamily="34" charset="0"/>
                <a:ea typeface="Arial" pitchFamily="34" charset="-122"/>
                <a:cs typeface="Arial" pitchFamily="34" charset="-120"/>
              </a:rPr>
              <a:t>Notebook 1 (EDA):</a:t>
            </a:r>
            <a:r>
              <a:rPr lang="en-US" sz="1200" dirty="0">
                <a:solidFill>
                  <a:srgbClr val="475569"/>
                </a:solidFill>
                <a:latin typeface="Arial" pitchFamily="34" charset="0"/>
                <a:ea typeface="Arial" pitchFamily="34" charset="-122"/>
                <a:cs typeface="Arial" pitchFamily="34" charset="-120"/>
              </a:rPr>
              <a:t> notebooks/NB1_Estrategia_Datos_EDA.ipynb</a:t>
            </a:r>
            <a:endParaRPr lang="en-US" sz="1200" dirty="0"/>
          </a:p>
          <a:p>
            <a:pPr marL="342900" indent="-342900">
              <a:lnSpc>
                <a:spcPts val="2160"/>
              </a:lnSpc>
              <a:buSzPct val="100000"/>
              <a:buChar char="•"/>
            </a:pPr>
            <a:r>
              <a:rPr lang="en-US" sz="1200" b="1" dirty="0">
                <a:solidFill>
                  <a:srgbClr val="475569"/>
                </a:solidFill>
                <a:latin typeface="Arial" pitchFamily="34" charset="0"/>
                <a:ea typeface="Arial" pitchFamily="34" charset="-122"/>
                <a:cs typeface="Arial" pitchFamily="34" charset="-120"/>
              </a:rPr>
              <a:t>Notebook 2 (Modelos):</a:t>
            </a:r>
            <a:r>
              <a:rPr lang="en-US" sz="1200" dirty="0">
                <a:solidFill>
                  <a:srgbClr val="475569"/>
                </a:solidFill>
                <a:latin typeface="Arial" pitchFamily="34" charset="0"/>
                <a:ea typeface="Arial" pitchFamily="34" charset="-122"/>
                <a:cs typeface="Arial" pitchFamily="34" charset="-120"/>
              </a:rPr>
              <a:t> notebooks/NB2_Modelado_Validacion.ipynb</a:t>
            </a:r>
            <a:endParaRPr lang="en-US" sz="1200" dirty="0"/>
          </a:p>
          <a:p>
            <a:pPr marL="342900" indent="-342900">
              <a:lnSpc>
                <a:spcPts val="2160"/>
              </a:lnSpc>
              <a:buSzPct val="100000"/>
              <a:buChar char="•"/>
            </a:pPr>
            <a:r>
              <a:rPr lang="en-US" sz="1200" b="1" dirty="0">
                <a:solidFill>
                  <a:srgbClr val="475569"/>
                </a:solidFill>
                <a:latin typeface="Arial" pitchFamily="34" charset="0"/>
                <a:ea typeface="Arial" pitchFamily="34" charset="-122"/>
                <a:cs typeface="Arial" pitchFamily="34" charset="-120"/>
              </a:rPr>
              <a:t>Repositorio / Demo:</a:t>
            </a:r>
            <a:r>
              <a:rPr lang="en-US" sz="1200" dirty="0">
                <a:solidFill>
                  <a:srgbClr val="475569"/>
                </a:solidFill>
                <a:latin typeface="Arial" pitchFamily="34" charset="0"/>
                <a:ea typeface="Arial" pitchFamily="34" charset="-122"/>
                <a:cs typeface="Arial" pitchFamily="34" charset="-120"/>
              </a:rPr>
              <a:t> carpeta notebooks/artifacts/ (modelo, model card, predicciones, segmentos)</a:t>
            </a:r>
            <a:endParaRPr lang="en-US" sz="1200" dirty="0"/>
          </a:p>
          <a:p>
            <a:pPr marL="342900" indent="-342900">
              <a:lnSpc>
                <a:spcPts val="2160"/>
              </a:lnSpc>
              <a:buSzPct val="100000"/>
              <a:buChar char="•"/>
            </a:pPr>
            <a:r>
              <a:rPr lang="en-US" sz="1200" b="1" dirty="0">
                <a:solidFill>
                  <a:srgbClr val="475569"/>
                </a:solidFill>
                <a:latin typeface="Arial" pitchFamily="34" charset="0"/>
                <a:ea typeface="Arial" pitchFamily="34" charset="-122"/>
                <a:cs typeface="Arial" pitchFamily="34" charset="-120"/>
              </a:rPr>
              <a:t>Datos (si públicos):</a:t>
            </a:r>
            <a:r>
              <a:rPr lang="en-US" sz="1200" dirty="0">
                <a:solidFill>
                  <a:srgbClr val="475569"/>
                </a:solidFill>
                <a:latin typeface="Arial" pitchFamily="34" charset="0"/>
                <a:ea typeface="Arial" pitchFamily="34" charset="-122"/>
                <a:cs typeface="Arial" pitchFamily="34" charset="-120"/>
              </a:rPr>
              <a:t> Kaggle — Olist Brazilian E-Commerce (CC BY-NC-SA 4.0)</a:t>
            </a:r>
            <a:endParaRPr lang="en-US" sz="1200" dirty="0"/>
          </a:p>
          <a:p>
            <a:pPr marL="342900" indent="-342900">
              <a:lnSpc>
                <a:spcPts val="2160"/>
              </a:lnSpc>
              <a:buSzPct val="100000"/>
              <a:buChar char="•"/>
            </a:pPr>
            <a:r>
              <a:rPr lang="en-US" sz="1200" b="1" dirty="0">
                <a:solidFill>
                  <a:srgbClr val="475569"/>
                </a:solidFill>
                <a:latin typeface="Arial" pitchFamily="34" charset="0"/>
                <a:ea typeface="Arial" pitchFamily="34" charset="-122"/>
                <a:cs typeface="Arial" pitchFamily="34" charset="-120"/>
              </a:rPr>
              <a:t>Documentación técnica:</a:t>
            </a:r>
            <a:r>
              <a:rPr lang="en-US" sz="1200" dirty="0">
                <a:solidFill>
                  <a:srgbClr val="475569"/>
                </a:solidFill>
                <a:latin typeface="Arial" pitchFamily="34" charset="0"/>
                <a:ea typeface="Arial" pitchFamily="34" charset="-122"/>
                <a:cs typeface="Arial" pitchFamily="34" charset="-120"/>
              </a:rPr>
              <a:t> Informe_Tecnico_ShopMart_Olist.docx</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3146858" y="1689795"/>
            <a:ext cx="2850285" cy="548580"/>
          </a:xfrm>
          <a:prstGeom prst="rect">
            <a:avLst/>
          </a:prstGeom>
          <a:noFill/>
          <a:ln/>
        </p:spPr>
        <p:txBody>
          <a:bodyPr wrap="square" lIns="0" tIns="0" rIns="0" bIns="0" rtlCol="0" anchor="t"/>
          <a:lstStyle/>
          <a:p>
            <a:pPr marL="0" indent="0" algn="ctr">
              <a:lnSpc>
                <a:spcPts val="4320"/>
              </a:lnSpc>
              <a:buNone/>
            </a:pPr>
            <a:r>
              <a:rPr lang="en-US" sz="3600" b="1" dirty="0">
                <a:solidFill>
                  <a:srgbClr val="FFFFFF"/>
                </a:solidFill>
                <a:latin typeface="Arial" pitchFamily="34" charset="0"/>
                <a:ea typeface="Arial" pitchFamily="34" charset="-122"/>
                <a:cs typeface="Arial" pitchFamily="34" charset="-120"/>
              </a:rPr>
              <a:t>¿Preguntas?</a:t>
            </a:r>
            <a:endParaRPr lang="en-US" sz="3600" dirty="0"/>
          </a:p>
        </p:txBody>
      </p:sp>
      <p:sp>
        <p:nvSpPr>
          <p:cNvPr id="3" name="Text 1"/>
          <p:cNvSpPr/>
          <p:nvPr/>
        </p:nvSpPr>
        <p:spPr>
          <a:xfrm>
            <a:off x="3545802" y="2543175"/>
            <a:ext cx="2052248" cy="266700"/>
          </a:xfrm>
          <a:prstGeom prst="rect">
            <a:avLst/>
          </a:prstGeom>
          <a:noFill/>
          <a:ln/>
        </p:spPr>
        <p:txBody>
          <a:bodyPr wrap="square" lIns="0" tIns="0" rIns="0" bIns="0" rtlCol="0" anchor="t"/>
          <a:lstStyle/>
          <a:p>
            <a:pPr marL="0" indent="0" algn="ctr">
              <a:lnSpc>
                <a:spcPts val="2100"/>
              </a:lnSpc>
              <a:buNone/>
            </a:pPr>
            <a:r>
              <a:rPr lang="en-US" sz="1500" dirty="0">
                <a:solidFill>
                  <a:srgbClr val="FFFFFF"/>
                </a:solidFill>
                <a:latin typeface="Arial" pitchFamily="34" charset="0"/>
                <a:ea typeface="Arial" pitchFamily="34" charset="-122"/>
                <a:cs typeface="Arial" pitchFamily="34" charset="-120"/>
              </a:rPr>
              <a:t>Gracias por su atención</a:t>
            </a:r>
            <a:endParaRPr lang="en-US" sz="1500" dirty="0"/>
          </a:p>
        </p:txBody>
      </p:sp>
      <p:sp>
        <p:nvSpPr>
          <p:cNvPr id="4" name="Text 2"/>
          <p:cNvSpPr/>
          <p:nvPr/>
        </p:nvSpPr>
        <p:spPr>
          <a:xfrm>
            <a:off x="2705715" y="3267075"/>
            <a:ext cx="3732422" cy="186630"/>
          </a:xfrm>
          <a:prstGeom prst="rect">
            <a:avLst/>
          </a:prstGeom>
          <a:noFill/>
          <a:ln/>
        </p:spPr>
        <p:txBody>
          <a:bodyPr wrap="square" lIns="0" tIns="0" rIns="0" bIns="0" rtlCol="0" anchor="t"/>
          <a:lstStyle/>
          <a:p>
            <a:pPr marL="0" indent="0" algn="ctr">
              <a:lnSpc>
                <a:spcPts val="1470"/>
              </a:lnSpc>
              <a:buNone/>
            </a:pPr>
            <a:r>
              <a:rPr lang="en-US" sz="1050" dirty="0">
                <a:solidFill>
                  <a:srgbClr val="FFFFFF"/>
                </a:solidFill>
                <a:latin typeface="Arial" pitchFamily="34" charset="0"/>
                <a:ea typeface="Arial" pitchFamily="34" charset="-122"/>
                <a:cs typeface="Arial" pitchFamily="34" charset="-120"/>
              </a:rPr>
              <a:t>Universidad Casa Grande</a:t>
            </a:r>
          </a:p>
          <a:p>
            <a:pPr marL="0" indent="0" algn="ctr">
              <a:lnSpc>
                <a:spcPts val="1470"/>
              </a:lnSpc>
              <a:buNone/>
            </a:pPr>
            <a:r>
              <a:rPr lang="en-US" sz="1050" dirty="0">
                <a:solidFill>
                  <a:srgbClr val="FFFFFF"/>
                </a:solidFill>
                <a:latin typeface="Arial" pitchFamily="34" charset="0"/>
                <a:ea typeface="Arial" pitchFamily="34" charset="-122"/>
                <a:cs typeface="Arial" pitchFamily="34" charset="-120"/>
              </a:rPr>
              <a:t>Maestría en IA y Ciencia de Datos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524</Words>
  <Application>Microsoft Office PowerPoint</Application>
  <PresentationFormat>On-screen Show (16:9)</PresentationFormat>
  <Paragraphs>122</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Roque Hernandez</cp:lastModifiedBy>
  <cp:revision>2</cp:revision>
  <dcterms:created xsi:type="dcterms:W3CDTF">2025-12-09T17:20:41Z</dcterms:created>
  <dcterms:modified xsi:type="dcterms:W3CDTF">2025-12-09T17:50:00Z</dcterms:modified>
</cp:coreProperties>
</file>