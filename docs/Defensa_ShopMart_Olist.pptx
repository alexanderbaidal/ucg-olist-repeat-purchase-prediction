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23"/>
    <p:sldId id="273" r:id="rId24"/>
    <p:sldId id="263" r:id="rId9"/>
    <p:sldId id="264" r:id="rId10"/>
    <p:sldId id="265" r:id="rId11"/>
    <p:sldId id="266" r:id="rId12"/>
    <p:sldId id="274" r:id="rId25"/>
    <p:sldId id="275" r:id="rId26"/>
    <p:sldId id="276" r:id="rId27"/>
    <p:sldId id="277" r:id="rId28"/>
    <p:sldId id="267" r:id="rId13"/>
    <p:sldId id="268" r:id="rId14"/>
    <p:sldId id="278" r:id="rId29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8" d="100"/>
          <a:sy n="138" d="100"/>
        </p:scale>
        <p:origin x="114" y="6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  <Relationship Id="rId23" Type="http://schemas.openxmlformats.org/officeDocument/2006/relationships/slide" Target="slides/slide17.xml"/>
  <Relationship Id="rId24" Type="http://schemas.openxmlformats.org/officeDocument/2006/relationships/slide" Target="slides/slide18.xml"/>
  <Relationship Id="rId25" Type="http://schemas.openxmlformats.org/officeDocument/2006/relationships/slide" Target="slides/slide19.xml"/>
  <Relationship Id="rId26" Type="http://schemas.openxmlformats.org/officeDocument/2006/relationships/slide" Target="slides/slide20.xml"/>
  <Relationship Id="rId27" Type="http://schemas.openxmlformats.org/officeDocument/2006/relationships/slide" Target="slides/slide21.xml"/>
  <Relationship Id="rId28" Type="http://schemas.openxmlformats.org/officeDocument/2006/relationships/slide" Target="slides/slide22.xml"/>
  <Relationship Id="rId29" Type="http://schemas.openxmlformats.org/officeDocument/2006/relationships/slide" Target="slides/slide23.xml"/>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0883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Buenos días/tardes. Voy a presentar mi trabajo de titulación: un caso de ciencia de datos para ShopMart, una empresa ficticia de e-commerce, resuelto sobre el dataset público Olist.</a:t>
            </a:r>
          </a:p>
          <a:p>
            <a:r>
              <a:rPr lang="es-ES" dirty="0"/>
              <a:t>El hilo conductor es simple: ¿podemos anticipar, apenas con la información del primer pedido de un cliente, si va a volver a comprar? Y si podemos, ¿qué tan útil es esa señal para el negocio?</a:t>
            </a:r>
          </a:p>
          <a:p>
            <a:r>
              <a:rPr lang="es-ES" dirty="0"/>
              <a:t>La respuesta corta, que voy a desarrollar en las próximas slides, es: sí se puede anticipar parcialmente, la señal es modesta pero accionable, y el camino para llegar ahí enseña tanto como el resultado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agenda sigue el ciclo de vida completo del caso: primero el problema y los objetivos, luego cómo se prepararon los datos y qué mostró el análisis exploratorio, después el diseño y entrenamiento de los modelos, los resultados con su interpretación de negocio, las consideraciones éticas, y cierro con conclusiones.</a:t>
            </a:r>
          </a:p>
          <a:p>
            <a:r>
              <a:rPr lang="es-ES" dirty="0"/>
              <a:t>Voy a insistir en la interpretación en cada sección, no solo en el número: lo que importa para la defensa no es que el PR-AUC sea 0.059, sino qué significa ese número y qué decisión habilita.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contexto importa porque no estamos resolviendo un problema abstracto de clasificación: hay una decisión de negocio concreta detrás — a quién le habla marketing primero después de la primera compra.</a:t>
            </a:r>
          </a:p>
          <a:p>
            <a:r>
              <a:rPr lang="es-ES" dirty="0"/>
              <a:t>La cifra de 5x en costo de adquisición vs. retención es la que justifica todo el proyecto: incluso una señal predictiva modesta, si permite priorizar bien ese presupuesto, ya genera valor.</a:t>
            </a:r>
          </a:p>
          <a:p>
            <a:r>
              <a:rPr lang="es-ES" dirty="0"/>
              <a:t>Este framing también anticipa la pregunta guía de la siguiente slide: no buscamos explicar por qué recompra un cliente, sino producir un score accionable para focalizar retención.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 es la pregunta que organiza todo el proyecto, y quiero ser preciso con el verbo: no preguntamos por qué un cliente recompra, preguntamos qué tan probable es que lo haga, usando solo lo que ya sabemos en el momento del primer pedido.</a:t>
            </a:r>
          </a:p>
          <a:p>
            <a:r>
              <a:rPr lang="es-ES" dirty="0"/>
              <a:t>Esa restricción -solo el primer pedido- no es arbitraria: es la que hace que el score sea accionable en el momento en que a ShopMart le sirve, es decir, inmediatamente después de la primera compra, antes de que el cliente decida si vuelve o no.</a:t>
            </a:r>
          </a:p>
          <a:p>
            <a:r>
              <a:rPr lang="es-ES" dirty="0"/>
              <a:t>La decisión que habilita es de priorización, no de exclusión: los clientes con score alto reciben foco de retención primero: nadie queda descartado del todo por 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Quiero subrayar por qué PR-AUC y no accuracy o ROC-AUC solos: con ~3.3% de positivos, un modelo que predice siempre 'no recompra' ya tiene 96.7% de accuracy y sería inútil. PR-AUC castiga eso.</a:t>
            </a:r>
          </a:p>
          <a:p>
            <a:r>
              <a:rPr lang="es-ES" dirty="0"/>
              <a:t>El baseline de 0.033 no es un modelo trivial arbitrario: es literalmente la tasa base del fenómeno. Superarlo de forma consistente es la barra mínima para decir 'el modelo aprendió algo real'.</a:t>
            </a:r>
          </a:p>
          <a:p>
            <a:r>
              <a:rPr lang="es-ES" dirty="0"/>
              <a:t>El criterio de éxito de negocio (lift &gt; 1x en el decil superior) es deliberadamente modesto: incluso una mejora moderada sobre el azar ya es útil si permite priorizar presupuesto de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Uso Olist como sustituto porque ShopMart no tiene datos propios reales: Olist es un marketplace brasileño real, con ~100k pedidos en un periodo de 2 años, del tamaño y complejidad de un e-commerce mediano.</a:t>
            </a:r>
          </a:p>
          <a:p>
            <a:r>
              <a:rPr lang="es-ES" dirty="0"/>
              <a:t>El punto de la censura de 90 días es sutil pero importante: sin excluirla, un cliente cuyo primer pedido fue ayer se vería injustamente como 'no recompra' solo porque no tuvo tiempo de volver a comprar.</a:t>
            </a:r>
          </a:p>
          <a:p>
            <a:r>
              <a:rPr lang="es-ES" dirty="0"/>
              <a:t>La restricción de usar solo variables del primer pedido es la decisión anti-leakage más importante del proyecto: cualquier variable de pedidos posteriores literalmente 'vería el futuro'.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Antes de mostrar resultados quiero que quede claro que hubo decisiones deliberadas de limpieza, no 'default de la librería': cada nulo estructural se documentó y se decidió explícitamente qué hacer con él.</a:t>
            </a:r>
          </a:p>
          <a:p>
            <a:r>
              <a:rPr lang="es-ES" dirty="0"/>
              <a:t>El hash determinístico es un detalle técnico pero importante para la defensa: significa que puedo re-ejecutar NB1 hoy y demostrar que produce exactamente los mismos datos, byte a byte.</a:t>
            </a:r>
          </a:p>
          <a:p>
            <a:r>
              <a:rPr lang="es-ES" dirty="0"/>
              <a:t>Con los datos ya limpios y validados, las próximas dos slides muestran los hallazgos del EDA que determinaron cómo se construyó 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baseline de PR-AUC 0.033 es, literalmente, la tasa de recompra del dataset: un modelo que predice al azar respetando esa proporción llega a ese número sin aprender nada.</a:t>
            </a:r>
          </a:p>
          <a:p>
            <a:r>
              <a:rPr lang="es-ES" dirty="0"/>
              <a:t>Todo lo que el modelo final logre por encima de 0.033 es evidencia de que capturó señal real, aunque sea señal débil — por eso la comparación contra este piso es el primer criterio de éxito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Quiero ser honesto con el tribunal sobre el empate técnico: en la comparación inicial por CV, la regresión logística (0.0468) superó levemente al ensemble (0.0455). No escondo ese resultado.</a:t>
            </a:r>
          </a:p>
          <a:p>
            <a:r>
              <a:rPr lang="es-ES" dirty="0"/>
              <a:t>La decisión de seguir con el ensemble no fue 'porque ganó', fue una apuesta metodológica: con una señal tan débil y sin interacciones fuertes evidentes, el margen de mejora por tuning de hiperparámetros era mayor en el modelo no lineal que en el lineal, que ya estaba cerca de su techo.</a:t>
            </a:r>
          </a:p>
          <a:p>
            <a:r>
              <a:rPr lang="es-ES" dirty="0"/>
              <a:t>Esa apuesta se confirmó después: el HistGradientBoosting tuneado terminó en PR-AUC test = 0.059, por encima de donde arrancó en CV — el tuning sí pagó.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orden temporal del split es un detalle fácil de pasar por alto pero importante: si mezcláramos clientes al azar, el test podría contener clientes 'del pasado' que son más fáciles de evaluar — ordenar temporalmente hace el test más parecido a un despliegue real.</a:t>
            </a:r>
          </a:p>
          <a:p>
            <a:r>
              <a:rPr lang="es-ES" dirty="0"/>
              <a:t>El umbral calibrado por F1 en vez de 0.5 es la respuesta a una pregunta típica del tribunal: con 3.3% de positivos, un umbral de 0.5 casi nunca se supera y el modelo terminaría prediciendo 'no recompra' siempre.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+79% relativo suena grande, pero hay que traducirlo con cuidado: vamos de 3.3% a ~5.9% de precisión en el score, no de 3.3% a 79%. Prefiero decir esto yo mismo antes de que lo pregunten.</a:t>
            </a:r>
          </a:p>
          <a:p>
            <a:r>
              <a:rPr lang="es-ES" dirty="0"/>
              <a:t>ROC-AUC de 0.63 confirma la misma historia desde otro ángulo: el modelo discrimina mejor que el azar (0.5), pero está lejos de un discriminador fuerte (&gt;0.8). Es consistente con la conclusión del EDA de que ninguna variable individual es un driver fuerte.</a:t>
            </a:r>
          </a:p>
          <a:p>
            <a:r>
              <a:rPr lang="es-ES" dirty="0"/>
              <a:t>El framing correcto para la defensa es: 'señal débil pero real y accionable', no 'modelo poderoso'. Esa honestidad es parte de lo que se evalúa en un caso de ciencia de datos aplicada.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 sección es opcional en el alcance del caso, pero la incluyo porque demuestra que el modelo no es solo un notebook: hay una función predict_one lista para envolverse en una API real.</a:t>
            </a:r>
          </a:p>
          <a:p>
            <a:r>
              <a:rPr lang="es-ES" dirty="0"/>
              <a:t>El punto de reentrenamiento periódico es la conexión honesta con la limitación de 'dataset estático': un modelo entrenado sobre 2016-2018 no debería usarse indefinidamente sin revalidar contra datos nuevos.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pregunta ética más probable del tribunal es sobre customer_state: la respuesta corta es 'se usa para predecir, nunca para excluir' — es una distinción importante y la digo explícitamente.</a:t>
            </a:r>
          </a:p>
          <a:p>
            <a:r>
              <a:rPr lang="es-ES" dirty="0"/>
              <a:t>El punto de las etiquetas RFM parece menor pero no lo es: nombrar un segmento 'en riesgo' en vez de algo estigmatizante es una decisión de diseño ética, no solo semántica.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Estas tres conclusiones son, en orden de importancia para mí: (1) el pipeline es sólido y honesto metodológicamente, (2) el hallazgo del EDA se sostiene hasta el final —nada domina—, y (3) RFM entrega un segundo ángulo de acción independiente del modelo predictivo.</a:t>
            </a:r>
          </a:p>
          <a:p>
            <a:r>
              <a:rPr lang="es-ES" dirty="0"/>
              <a:t>Sobre trabajo futuro, si me preguntan qué haría primero con más tiempo: la validación A/B real del lift, porque hasta que eso no exista, 2.27x sigue siendo una promesa retrospectiva, no una garantía.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Estos son los entregables técnicos completos: ambos notebooks están ejecutados de punta a punta, con outputs embebidos, y los artefactos en artifacts/ reproducen exactamente lo mostrado en esta defensa.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Cierro recapitulando en una frase: se puede anticipar parcialmente la recompra desde el primer pedido, la señal es modesta pero accionable, y el hallazgo más valioso quizás no sea el modelo en sí, sino haber descartado con evidencia la intuición de que la satisfacción declarada explica la recompra.</a:t>
            </a:r>
          </a:p>
          <a:p>
            <a:r>
              <a:rPr lang="es-ES" dirty="0"/>
              <a:t>Quedo abierto 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desbalance de 3.3% es la decisión metodológica que más consecuencias tiene aguas abajo: define la métrica primaria, la estrategia de validación cruzada, y hasta el umbral de decisión del modelo final.</a:t>
            </a:r>
          </a:p>
          <a:p>
            <a:r>
              <a:rPr lang="es-ES" dirty="0"/>
              <a:t>La estacionalidad y la cardinalidad de categoría/ciudad son hallazgos 'de higiene': no son el hallazgo dramático del proyecto, pero ignorarlos habría inflado el modelo con ruido sin agregar señal real.</a:t>
            </a:r>
          </a:p>
          <a:p>
            <a:r>
              <a:rPr lang="es-ES" dirty="0"/>
              <a:t>La frase de cierre es la transición a la siguiente slide, que es la que más quiero que el tribunal recuerde: ni siquiera la satisfacción del cliente predice la recompra por sí sola.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17</a:t>
            </a:fld>
            <a:endParaRPr lang="es-E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 es, para mí, la slide más importante del EDA y una de las más importantes de toda la defensa: contradice la intuición de negocio más obvia sobre retención en e-commerce.</a:t>
            </a:r>
          </a:p>
          <a:p>
            <a:r>
              <a:rPr lang="es-ES" dirty="0"/>
              <a:t>No digo que la satisfacción no importe en absoluto — digo que, medida como review_score de 1 a 5, no es un predictor útil de recompra en este dataset. Son dos afirmaciones distintas y hay que ser preciso.</a:t>
            </a:r>
          </a:p>
          <a:p>
            <a:r>
              <a:rPr lang="es-ES" dirty="0"/>
              <a:t>La implicación práctica es fuerte: si ShopMart quisiera mejorar retención invirtiendo solo en subir el review_score promedio, este análisis sugiere que no movería la aguja de recompra.</a:t>
            </a:r>
          </a:p>
          <a:p>
            <a:r>
              <a:rPr lang="es-ES" dirty="0"/>
              <a:t>Esto también anticipa el hallazgo de permutation importance en la sección de resultados: el modelo final tampoco aprende de review_score — es consistente con el EDA, no una casualidad del entrenamiento.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18</a:t>
            </a:fld>
            <a:endParaRPr lang="es-E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El lift es la métrica que más le importa a un stakeholder de marketing, más que el PR-AUC: traduce el modelo a 'con el mismo presupuesto, llego a más clientes que sí recompran'.</a:t>
            </a:r>
          </a:p>
          <a:p>
            <a:r>
              <a:rPr lang="es-ES" dirty="0"/>
              <a:t>2.27x no es espectacular, pero es concreto y medible: si hoy una campaña random logra que recompren 3.3 de cada 100 contactados, dirigida por score logra ~7.5 de cada 100 en el decil superior.</a:t>
            </a:r>
          </a:p>
          <a:p>
            <a:r>
              <a:rPr lang="es-ES" dirty="0"/>
              <a:t>Importante para la defensa: este lift es retrospectivo (sobre el test set histórico), no viene de una prueba A/B real — lo digo explícitamente como limitación en la sección de conclusiones.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19</a:t>
            </a:fld>
            <a:endParaRPr lang="es-E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 slide cierra el círculo con el EDA: el permutation importance se calculó sobre el modelo ya entrenado y tuneado, en una muestra de 5,000 observaciones de test — y confirma, no contradice, lo que ya habíamos visto en la exploración de datos.</a:t>
            </a:r>
          </a:p>
          <a:p>
            <a:r>
              <a:rPr lang="es-ES" dirty="0"/>
              <a:t>El punto de que customer_state no aparece en el top-15 es relevante para una pregunta que puede surgir: '¿por qué no usaron geolocalización?' — la respuesta es que ni siquiera la geografía a nivel estado, que sí está en el modelo, resultó ser una señal relevante.</a:t>
            </a:r>
          </a:p>
          <a:p>
            <a:r>
              <a:rPr lang="es-ES" dirty="0"/>
              <a:t>La conclusión de esta slide es la misma que la del EDA, y esa consistencia es intencional: no es una coincidencia, es la forma correcta en que EDA y modelo deberían dialogar entre 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20</a:t>
            </a:fld>
            <a:endParaRPr lang="es-E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Esta slide es donde muestro autocrítica activa, no solo resultados positivos: un buen caso aplicado reconoce dónde falla el modelo, no solo dónde funciona.</a:t>
            </a:r>
          </a:p>
          <a:p>
            <a:r>
              <a:rPr lang="es-ES" dirty="0"/>
              <a:t>El punto sobre customer_state conecta con la decisión de alcance de no usar geolocalización: ni a nivel fino (zip/lat-lng) ni a nivel de estado la geografía resultó ser un factor de degradación de desempeño.</a:t>
            </a:r>
          </a:p>
          <a:p>
            <a:r>
              <a:rPr lang="es-ES" dirty="0"/>
              <a:t>El último punto —factores no observados— es la explicación de fondo para todo el proyecto: no es que el modelo esté mal construido, es que el dataset no contiene toda la causalidad real de la recompra.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21</a:t>
            </a:fld>
            <a:endParaRPr lang="es-E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La segmentación RFM es un análisis complementario al modelo predictivo, no compite con él: el modelo responde '¿va a recomprar?' a nivel de cliente individual recién llegado; RFM responde '¿cómo está estructurada toda mi base de clientes hoy?'.</a:t>
            </a:r>
          </a:p>
          <a:p>
            <a:r>
              <a:rPr lang="es-ES" dirty="0"/>
              <a:t>Las etiquetas de los segmentos se derivaron del perfil real de recencia/frecuencia/monto de cada cluster de KMeans, no de un orden arbitrario por monto — esto importa porque una versión anterior del análisis etiquetó mal el cluster más dormido como 'recompradores' por ese error.</a:t>
            </a:r>
          </a:p>
          <a:p>
            <a:r>
              <a:rPr lang="es-ES" dirty="0"/>
              <a:t>El segmento 'en riesgo/bajo valor' con ~426 días de recencia promedio es la pieza que más se conecta con el objetivo de negocio de la slide 3: son ~27,000 clientes dormidos, la oportunidad más grande y más barata de reactivar.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22</a:t>
            </a:fld>
            <a:endParaRPr lang="es-E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customer_city fue excluido explícitamente por riesgo de reidentificación indirecta (alta cardinalidad, ~4,000 valores) — es una decisión de privacidad, no solo de reducción de dimensionalidad.</a:t>
            </a:r>
          </a:p>
          <a:p>
            <a:r>
              <a:rPr lang="es-ES" dirty="0"/>
              <a:t>El punto más importante de esta slide para la defensa es el último: el modelo debe usarse como insumo de priorización, no como filtro automático — con una señal predictiva modesta, excluir clientes de campañas de retención solo por el score sería un uso irresponsable del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s-ES"/>
              <a:t>23</a:t>
            </a:fld>
            <a:endParaRPr lang="es-E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692886" y="306057"/>
            <a:ext cx="3758077" cy="112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algn="ctr">
              <a:lnSpc>
                <a:spcPts val="2430"/>
              </a:lnSpc>
              <a:buSzPct val="100000"/>
              <a:buNone/>
            </a:pPr>
            <a:r>
              <a:rPr lang="en-US" sz="3600" dirty="0" err="1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Defensa</a:t>
            </a:r>
            <a:r>
              <a:rPr lang="en-US" sz="36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 de</a:t>
            </a:r>
          </a:p>
          <a:p>
            <a:pPr indent="0" algn="ctr">
              <a:lnSpc>
                <a:spcPts val="2430"/>
              </a:lnSpc>
              <a:buSzPct val="100000"/>
              <a:buNone/>
            </a:pPr>
            <a:endParaRPr lang="en-US" sz="3600" dirty="0">
              <a:solidFill>
                <a:srgbClr val="475569"/>
              </a:solidFill>
              <a:latin typeface="Arial" pitchFamily="34" charset="0"/>
              <a:cs typeface="Arial" pitchFamily="34" charset="-120"/>
            </a:endParaRPr>
          </a:p>
          <a:p>
            <a:pPr indent="0" algn="ctr">
              <a:lnSpc>
                <a:spcPts val="2430"/>
              </a:lnSpc>
              <a:buSzPct val="100000"/>
              <a:buNone/>
            </a:pPr>
            <a:r>
              <a:rPr lang="en-US" sz="36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sz="3600" dirty="0" err="1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Análisis</a:t>
            </a:r>
            <a:r>
              <a:rPr lang="en-US" sz="36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 de Caso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30"/>
              </a:lnSpc>
              <a:buSzPct val="100000"/>
            </a:pPr>
            <a:r>
              <a:rPr lang="en-US" dirty="0" sz="2000" b="1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Personalización Data-Driven en E-Commerce: Predicción de Recompra para la Retención de Clientes (Caso Olist)</a:t>
            </a:r>
          </a:p>
        </p:txBody>
      </p:sp>
      <p:sp>
        <p:nvSpPr>
          <p:cNvPr id="4" name="Text 2"/>
          <p:cNvSpPr/>
          <p:nvPr/>
        </p:nvSpPr>
        <p:spPr>
          <a:xfrm>
            <a:off x="609600" y="2500000"/>
            <a:ext cx="792480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algn="ctr">
              <a:lnSpc>
                <a:spcPts val="2430"/>
              </a:lnSpc>
              <a:buSzPct val="100000"/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Maestrante(s): </a:t>
            </a:r>
            <a:r>
              <a:rPr lang="en-US" sz="14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Alexander Baidal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920000"/>
            <a:ext cx="792480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2430"/>
              </a:lnSpc>
              <a:buSzPct val="100000"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Tutor(a): </a:t>
            </a:r>
            <a:r>
              <a:rPr lang="en-US" sz="14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Roque Jacinto Hernández Bustos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3340000"/>
            <a:ext cx="792480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algn="ctr">
              <a:lnSpc>
                <a:spcPts val="2430"/>
              </a:lnSpc>
              <a:buSzPct val="100000"/>
              <a:buNone/>
            </a:pPr>
            <a:r>
              <a:rPr lang="en-US" sz="1400" b="1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Fecha: </a:t>
            </a:r>
            <a:r>
              <a:rPr lang="en-US" sz="14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04/08/2026</a:t>
            </a:r>
          </a:p>
        </p:txBody>
      </p:sp>
      <p:sp>
        <p:nvSpPr>
          <p:cNvPr id="8" name="Text 6"/>
          <p:cNvSpPr/>
          <p:nvPr/>
        </p:nvSpPr>
        <p:spPr>
          <a:xfrm>
            <a:off x="3006895" y="4410771"/>
            <a:ext cx="313006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Maestría en Inteligencia Artificial y Ciencia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  <a:sym typeface="Arial"/>
              </a:rPr>
              <a:t>Agenda</a:t>
            </a:r>
          </a:p>
        </p:txBody>
      </p:sp>
      <p:sp>
        <p:nvSpPr>
          <p:cNvPr id="3" name="Text 1"/>
          <p:cNvSpPr/>
          <p:nvPr/>
        </p:nvSpPr>
        <p:spPr>
          <a:xfrm>
            <a:off x="914400" y="1249561"/>
            <a:ext cx="7620000" cy="2422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y objetivos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y estrategia (EDA + preparación)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Modelos: diseño, entrenamiento y validación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e interpretación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Ética, riesgos y limitaciones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 y trabajo futuro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1. Problema y Contexto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del dominio: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ShopMart es un e-commerce mediano; se resuelve sobre Olist, un marketplace brasileño real (~100k pedidos, 2016–2018) que reproduce su dinámica transaccional.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Dolor / necesidad: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600" y="2660904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Adquirir un cliente cuesta ~5x más que retenerlo, pero la recompra está estancada y el marketing se reparte parejo, sin priorizar por comportamiento real.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282696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Impacto: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09600" y="3675888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Anticipar desde el primer pedido quién es más propenso a recomprar permite a marketing/CRM enfocar el presupuesto de retención donde más cambia el resultado.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49561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3284339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Pregunta Guía y Decisión</a:t>
            </a:r>
          </a:p>
        </p:txBody>
      </p:sp>
      <p:sp>
        <p:nvSpPr>
          <p:cNvPr id="5" name="Text 3"/>
          <p:cNvSpPr/>
          <p:nvPr/>
        </p:nvSpPr>
        <p:spPr>
          <a:xfrm>
            <a:off x="914400" y="1554361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¿Pregunta guía?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981051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clientes, según su primer pedido, tienen mayor probabilidad de recomprar?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3589139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que habilita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015829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Priorizar campañas de retención hacia clientes con mayor score de recompra predicho.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Objetivos y Criterios de Éxito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general: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Predecir la recompra desde el primer pedido y segmentar clientes vía RFM, dando a marketing/CRM una base analítica accionable para personalizar la retención.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Criterios de éxito: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2660904"/>
            <a:ext cx="762000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principal: Average Precision / PR-AUC, porque el desbalance es severo (~3.3% recompra) y ROC-AUC por sí solo sería engañoso aquí.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Baseline: DummyClassifier estratificado (PR-AUC ≈ 0.033) — el modelo final debe superarlo de forma consistente, no por azar de una sola corrida.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Umbral mínimo: lift &gt; 1x en el decil superior de score, para que el resultado sea traducible a una decisión de negocio real.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2. Datos: Descripción</a:t>
            </a:r>
          </a:p>
        </p:txBody>
      </p:sp>
      <p:sp>
        <p:nvSpPr>
          <p:cNvPr id="3" name="Text 1"/>
          <p:cNvSpPr/>
          <p:nvPr/>
        </p:nvSpPr>
        <p:spPr>
          <a:xfrm>
            <a:off x="914400" y="1252728"/>
            <a:ext cx="7620000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Fuente: Olist (Kaggle) — sustituto curado de los datos reales que tendría ShopMart.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Periodo: pedidos entre sep. 2016 y oct. 2018 (~100,000 pedidos), una fotografía estática.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Tamaño: 96,096 clientes únicos; 84,282 elegibles tras excluir censura de 90 días y pedidos no entregados.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 objetivo (Y): repeat_purchase — 1 si el cliente tiene 2+ pedidos en el dataset.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(X): 23 features derivadas solo del primer pedido — nunca de pedidos posteriores, para evitar fuga de información.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Calidad: IDs pseudonimizados, sin PII; los nulos estructurales se documentan y tratan de forma explícita.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Preparación y Limpieza de Datos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Limpieza y preprocesamiento: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7620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nulos en fechas de entrega no se imputan: son estructurales (un pedido cancelado no tiene fecha de entrega) y se manejan filtrando por order_status.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reseñas duplicadas por pedido se deduplican conservando la más reciente; los atributos de producto se imputan dentro del pipeline de sklearn, no a mano.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9535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Integridad y trazabilidad: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3346704"/>
            <a:ext cx="76200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validó ausencia de order_id/customer_id duplicados y de columnas constantes o de alta cardinalidad sin tratar.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calculó un hash determinístico de cada tabla cruda y de la tabla analítica final, para verificar que dos ejecuciones producen exactamente los mismos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Features y Baseline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Transformaciones / Selección / Desbalance: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features derivadas del primer pedido (valor, pago, entrega, categoría, estacionalidad), ensambladas en un pipeline de one-hot + imputación + escalado ajustado solo en train.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600" y="2660904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DummyClassifier reproduce la tasa base sin usar ninguna señal (PR-AUC = 0.033) — es el piso que cualquier modelo real debe superar para justificar su complejidad.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3. Modelos: Candidatos y Selección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Evaluados: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7620000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DummyClassifier: baseline sin usar ninguna señal — el piso de referencia, no un candidato real.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LogisticRegression: interpretable y auditable (PR-AUC CV=0.047); no captura interacciones no lineales.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HistGradientBoosting: mayor margen de mejora vía tuning; sin tuning empata con la regresión logística (0.046).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349300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final y justificación: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600" y="3886200"/>
            <a:ext cx="808329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eligió HistGradientBoostingClassifier optimizado: empató con la regresión logística en la comparación inicial, pero tenía más margen de mejora vía tuning y podía capturar interacciones que un modelo lineal no explota.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Diseño Experimental y Validación</a:t>
            </a:r>
          </a:p>
        </p:txBody>
      </p:sp>
      <p:sp>
        <p:nvSpPr>
          <p:cNvPr id="3" name="Text 1"/>
          <p:cNvSpPr/>
          <p:nvPr/>
        </p:nvSpPr>
        <p:spPr>
          <a:xfrm>
            <a:off x="914400" y="1252728"/>
            <a:ext cx="7620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Split: hold-out estratificado 70/15/15, ordenado temporalmente para que el test tenga a los clientes más recientes.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Anti-leakage: solo features del primer pedido; preprocesador ajustado únicamente en train; censura de 90 días.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CV: StratifiedKFold (3 folds), preservando la proporción de clases dado el desbalance severo.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Tuning: RandomizedSearchCV (6 combinaciones) sobre max_iter, max_depth, learning_rate, l2_reg y min_samples_leaf.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Umbral de decisión: no se fija en 0.5 (recall≈0 en la minoría) — se calibra maximizando F1 en validación; RANDOM_STATE=42 en todo paso con aleatoriedad.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49561"/>
            <a:ext cx="7924800" cy="67047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Resultados: Métricas del Modelo Final</a:t>
            </a:r>
          </a:p>
        </p:txBody>
      </p:sp>
      <p:sp>
        <p:nvSpPr>
          <p:cNvPr id="4" name="Text 2"/>
          <p:cNvSpPr/>
          <p:nvPr/>
        </p:nvSpPr>
        <p:spPr>
          <a:xfrm>
            <a:off x="838200" y="1478161"/>
            <a:ext cx="76169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PR-AUC: 0.059 vs. baseline 0.033 (+79%) · ROC-AUC 0.63 · lift 2.27x en decil superior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148840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significa un PR-AUC de 0.059?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2542032"/>
            <a:ext cx="808329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una mejora clara y consistente sobre el azar, pero en términos absolutos sigue siendo modesto: confirma que la recompra depende también de factores que el dataset no observa (competencia, necesidad real del producto, campañas externas).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346704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números de negocio:</a:t>
            </a:r>
          </a:p>
        </p:txBody>
      </p:sp>
      <p:sp>
        <p:nvSpPr>
          <p:cNvPr id="8" name="Text 6"/>
          <p:cNvSpPr/>
          <p:nvPr/>
        </p:nvSpPr>
        <p:spPr>
          <a:xfrm>
            <a:off x="609600" y="3739896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Contactar al 10% de clientes con mayor score produce una tasa de recompra 2.27 veces superior a un contacto aleatorio — el detalle está en la siguiente slide.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 err="1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Prototipo</a:t>
            </a: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 y </a:t>
            </a:r>
            <a:r>
              <a:rPr lang="en-US" sz="3600" b="1" dirty="0" err="1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Despliegue</a:t>
            </a: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 (</a:t>
            </a:r>
            <a:r>
              <a:rPr lang="en-US" sz="3600" b="1" dirty="0" err="1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Opcional</a:t>
            </a: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propuesta: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 (features del primer pedido) → Inferencia (predict_one aplica el preprocessor y el modelo) → Integración (score y decisión bajo el umbral calibrado, listos para CRM).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Operación: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2660904"/>
            <a:ext cx="762000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Latencia: milisegundos por registro — modelo liviano (150 iteraciones), compatible con un endpoint síncrono.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Costo: bajo — sin GPU, footprint del modelo serializado de apenas ~250 KB.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Monitoreo: drift de las features más importantes + reentrenamiento periódico (p. ej. trimestral), dado que el dataset de entrenamiento es una fotografía estática.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4. Ética: Sesgos y Equidad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customer_state: uso correcto</a:t>
            </a:r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usa únicamente como feature predictiva, nunca como criterio de exclusión de campañas — evita decisiones discriminatorias por geografía.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Desempeño por subgrupo: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2660904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disparidades severas por categoría o estado, aunque el tamaño muestral por subgrupo es limitado — se recomienda monitorear esta métrica en producción.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282696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Segmentación RFM sin estigmatización:</a:t>
            </a:r>
          </a:p>
        </p:txBody>
      </p:sp>
      <p:sp>
        <p:nvSpPr>
          <p:cNvPr id="8" name="Text 6"/>
          <p:cNvSpPr/>
          <p:nvPr/>
        </p:nvSpPr>
        <p:spPr>
          <a:xfrm>
            <a:off x="609600" y="3675888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etiquetas de segmento (p. ej. 'en_riesgo_bajo_valor') se derivan del comportamiento real de cada cluster, evitando etiquetas cargadas de valor.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5. Conclusiones y Trabajo Futuro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 (3–5):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762000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reproducible y sin fuga de información, con lift de 2.27x en el decil superior.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driver individual —ni review_score— es fuerte por sí solo: el patrón es multi-causal.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RFM revela un segmento 'en riesgo/bajo valor' (29%): la mayor oportunidad de reactivación.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94436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Limitaciones: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09600" y="3337560"/>
            <a:ext cx="80832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Señal predictiva modesta sobre un dataset estático; el lift reportado es retrospectivo, no A/B.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77647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Trabajo futuro: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09600" y="4169664"/>
            <a:ext cx="80832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Clickstream/marketing, más modelos, recomendador complementario y validación A/B por segmento.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6. Anexos y Entregables</a:t>
            </a:r>
          </a:p>
        </p:txBody>
      </p:sp>
      <p:sp>
        <p:nvSpPr>
          <p:cNvPr id="3" name="Text 1"/>
          <p:cNvSpPr/>
          <p:nvPr/>
        </p:nvSpPr>
        <p:spPr>
          <a:xfrm>
            <a:off x="914400" y="1249561"/>
            <a:ext cx="7620000" cy="182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1 (EDA):</a:t>
            </a: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notebooks/NB1_Estrategia_Datos_EDA.ipynb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2 (Modelos):</a:t>
            </a: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notebooks/NB2_Modelado_Validacion.ipynb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Repositorio / Demo:</a:t>
            </a: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carpeta notebooks/artifacts/ (modelo, model card, predicciones, segmentos)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(si públicos):</a:t>
            </a: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Kaggle — Olist Brazilian E-Commerce (CC BY-NC-SA 4.0)</a:t>
            </a:r>
            <a:endParaRPr lang="en-US" sz="1200" dirty="0"/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técnica:</a:t>
            </a: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Informe_Tecnico_ShopMart_Olist.docx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46858" y="1689795"/>
            <a:ext cx="2850285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¿Preguntas?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545802" y="2543175"/>
            <a:ext cx="20522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 por su atención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705715" y="3267075"/>
            <a:ext cx="373242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Universidad Casa Grande</a:t>
            </a:r>
          </a:p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Maestría en IA y Ciencia de Datos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EDA: Desbalance, Estacionalidad y Cardinalidad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encontramos:</a:t>
            </a:r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762000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Desbalance severo (~3.3% recompra) → métrica primaria PR-AUC, no accuracy.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Estacionalidad moderada en volumen y tasa de recompra por mes de compra.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 categorías long-tail y customer_city de alta cardinalidad (~4k): se agrupan/excluyen.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94436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Conexión: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3337560"/>
            <a:ext cx="7620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hallazgo más importante del EDA —el review_score— tiene su propia slide a continuación.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49561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3284339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EDA: El "Mito" del Review Score</a:t>
            </a:r>
          </a:p>
        </p:txBody>
      </p:sp>
      <p:sp>
        <p:nvSpPr>
          <p:cNvPr id="5" name="Text 3"/>
          <p:cNvSpPr/>
          <p:nvPr/>
        </p:nvSpPr>
        <p:spPr>
          <a:xfrm>
            <a:off x="914400" y="1554361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endParaRPr lang="en-US" sz="1800" dirty="0"/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esperable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1981051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intuición de negocio dice que un cliente satisfecho (review alto) debería ser mucho más propenso a volver a comprar que uno insatisfecho.</a:t>
            </a:r>
          </a:p>
        </p:txBody>
      </p:sp>
      <p:sp>
        <p:nvSpPr>
          <p:cNvPr id="7" name="Text 5"/>
          <p:cNvSpPr/>
          <p:nvPr/>
        </p:nvSpPr>
        <p:spPr>
          <a:xfrm>
            <a:off x="914400" y="3589139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endParaRPr lang="en-US" sz="1800" dirty="0"/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muestra el dato</a:t>
            </a:r>
          </a:p>
        </p:txBody>
      </p:sp>
      <p:sp>
        <p:nvSpPr>
          <p:cNvPr id="8" name="Text 6"/>
          <p:cNvSpPr/>
          <p:nvPr/>
        </p:nvSpPr>
        <p:spPr>
          <a:xfrm>
            <a:off x="914400" y="4015829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tasa de recompra por review_score es prácticamente plana (2.96%–3.46%), sin tendencia monótona; su correlación con el target es de las más débiles (|ρ|&lt;0.03).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49561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3284339"/>
            <a:ext cx="7924800" cy="1249561"/>
          </a:xfrm>
          <a:prstGeom prst="rect">
            <a:avLst/>
          </a:prstGeom>
          <a:solidFill>
            <a:srgbClr val="F1F5F9"/>
          </a:solidFill>
          <a:ln/>
          <a:effectLst>
            <a:outerShdw blurRad="152400" dist="76200" dir="5400000" algn="bl" rotWithShape="0">
              <a:srgbClr val="000000">
                <a:alpha val="8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Resultados: Impacto de Negocio</a:t>
            </a:r>
          </a:p>
        </p:txBody>
      </p:sp>
      <p:sp>
        <p:nvSpPr>
          <p:cNvPr id="5" name="Text 3"/>
          <p:cNvSpPr/>
          <p:nvPr/>
        </p:nvSpPr>
        <p:spPr>
          <a:xfrm>
            <a:off x="914400" y="1554361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endParaRPr lang="en-US" sz="1800" dirty="0"/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score como herramienta de priorización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1981051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vez de contactar a todos los clientes por igual, marketing puede ordenar la base por score de recompra y enfocar el presupuesto en el extremo superior.</a:t>
            </a:r>
          </a:p>
        </p:txBody>
      </p:sp>
      <p:sp>
        <p:nvSpPr>
          <p:cNvPr id="7" name="Text 5"/>
          <p:cNvSpPr/>
          <p:nvPr/>
        </p:nvSpPr>
        <p:spPr>
          <a:xfrm>
            <a:off x="914400" y="3589139"/>
            <a:ext cx="746150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endParaRPr lang="en-US" sz="1800" dirty="0"/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de 2.27x en el decil superior</a:t>
            </a:r>
          </a:p>
        </p:txBody>
      </p:sp>
      <p:sp>
        <p:nvSpPr>
          <p:cNvPr id="8" name="Text 6"/>
          <p:cNvSpPr/>
          <p:nvPr/>
        </p:nvSpPr>
        <p:spPr>
          <a:xfrm>
            <a:off x="914400" y="4015829"/>
            <a:ext cx="7461504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10% de clientes con mayor score recompra a una tasa 2.27 veces mayor que un contacto aleatorio — con el mismo presupuesto, se llega a más clientes que sí vuelven a comprar.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3240"/>
              </a:lnSpc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Resultados: Qué Aprendió el Modelo</a:t>
            </a:r>
          </a:p>
        </p:txBody>
      </p:sp>
      <p:sp>
        <p:nvSpPr>
          <p:cNvPr id="3" name="Text 1"/>
          <p:cNvSpPr/>
          <p:nvPr/>
        </p:nvSpPr>
        <p:spPr>
          <a:xfrm>
            <a:off x="914400" y="1252728"/>
            <a:ext cx="76200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y forma de pago del pedido (cuotas máximas, precio por ítem, precio total) son las señales más influyentes — más que cualquier otra dimensión.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siguen flete y tiempos de entrega/aprobación: la experiencia logística del primer pedido sí deja huella en la probabilidad de recompra.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Algunas categorías de producto (deportes/ocio, muebles/decoración) aportan señal adicional, aunque menor.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review_score ni customer_state figuran entre las 15 variables más influyentes — consistente con el EDA: ni la satisfacción declarada ni la geografía son drivers individuales fuertes.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aprende de un conjunto amplio de señales débiles combinadas, no de una variable dominante — igual que mostró el EDA.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Resultados: Límites y Casos Atípicos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Errores típicos:</a:t>
            </a:r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modelo pierde precisión en pedidos atípicos: muy pocos ítems, categoría poco frecuente o combinaciones de pago inusuales — casos con poca base histórica similar.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Desempeño por subgrupo: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2660904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degradación sistemática por categoría o customer_state, pero el volumen por subgrupo es limitado — estas estimaciones son orientativas, no concluyentes.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282696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NO puede capturar el modelo:</a:t>
            </a:r>
          </a:p>
        </p:txBody>
      </p:sp>
      <p:sp>
        <p:nvSpPr>
          <p:cNvPr id="8" name="Text 6"/>
          <p:cNvSpPr/>
          <p:nvPr/>
        </p:nvSpPr>
        <p:spPr>
          <a:xfrm>
            <a:off x="609600" y="3675888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Factores fuera del dataset —competencia, necesidad real del producto, campañas externas— probablemente explican buena parte de lo que el modelo no captura.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Segmentación RFM: Hallazgos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4 segmentos (93,358 clientes):</a:t>
            </a:r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762000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recientes (34.7%): monto promedio más alto ($251) — la base más valiosa hoy.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Bajo ticket reciente (33.2%): activos pero de bajo monto ($44) — oportunidad de upsell.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riesgo/bajo valor (29.1%): recencia ~426 días, el más numeroso en riesgo de churn total.</a:t>
            </a:r>
          </a:p>
          <a:p>
            <a:pPr marL="342900" indent="-342900">
              <a:lnSpc>
                <a:spcPts val="2160"/>
              </a:lnSpc>
              <a:buSzPct val="100000"/>
              <a:buChar char="•"/>
            </a:pPr>
            <a:endParaRPr lang="en-US" sz="1200" dirty="0"/>
            <a:r>
              <a:rPr lang="en-US" sz="12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Recompradores (3.0%): único con frecuencia &gt;1 — el objetivo de referencia del modelo.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3483864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de negocio: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3877056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segmento 'en riesgo/bajo valor' es la mayor oportunidad de reactivación: es casi 10 veces más numeroso que los recompradores actuales.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3600" b="1" dirty="0">
                <a:solidFill>
                  <a:srgbClr val="EC6A16"/>
                </a:solidFill>
                <a:latin typeface="Calibri"/>
                <a:ea typeface="Calibri"/>
                <a:cs typeface="Calibri"/>
              </a:rPr>
              <a:t>Ética: Privacidad y Limitaciones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252728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Privacidad y seguridad de datos:</a:t>
            </a:r>
          </a:p>
        </p:txBody>
      </p:sp>
      <p:sp>
        <p:nvSpPr>
          <p:cNvPr id="4" name="Text 2"/>
          <p:cNvSpPr/>
          <p:nvPr/>
        </p:nvSpPr>
        <p:spPr>
          <a:xfrm>
            <a:off x="609600" y="1645920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IDs pseudonimizados, sin nombres ni contacto; customer_city se excluyó por riesgo de reidentificación. Licencia CC BY-NC-SA 4.0, uso académico.</a:t>
            </a:r>
          </a:p>
        </p:txBody>
      </p:sp>
      <p:sp>
        <p:nvSpPr>
          <p:cNvPr id="5" name="Text 3"/>
          <p:cNvSpPr/>
          <p:nvPr/>
        </p:nvSpPr>
        <p:spPr>
          <a:xfrm>
            <a:off x="609600" y="2267712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 despliegue real:</a:t>
            </a:r>
          </a:p>
        </p:txBody>
      </p:sp>
      <p:sp>
        <p:nvSpPr>
          <p:cNvPr id="6" name="Text 4"/>
          <p:cNvSpPr/>
          <p:nvPr/>
        </p:nvSpPr>
        <p:spPr>
          <a:xfrm>
            <a:off x="609600" y="2660904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Sería necesario asegurar consentimiento, opciones de opt-out, control de acceso y cumplimiento normativo local equivalente a GDPR.</a:t>
            </a:r>
          </a:p>
        </p:txBody>
      </p:sp>
      <p:sp>
        <p:nvSpPr>
          <p:cNvPr id="7" name="Text 5"/>
          <p:cNvSpPr/>
          <p:nvPr/>
        </p:nvSpPr>
        <p:spPr>
          <a:xfrm>
            <a:off x="609600" y="3282696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endParaRPr lang="en-US" sz="1350" dirty="0"/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responsable del score:</a:t>
            </a:r>
          </a:p>
        </p:txBody>
      </p:sp>
      <p:sp>
        <p:nvSpPr>
          <p:cNvPr id="8" name="Text 6"/>
          <p:cNvSpPr/>
          <p:nvPr/>
        </p:nvSpPr>
        <p:spPr>
          <a:xfrm>
            <a:off x="609600" y="3675888"/>
            <a:ext cx="808329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endParaRPr lang="en-US" sz="1200" dirty="0"/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Señal predictiva débil: usar como insumo de priorización con supervisión humana, nunca como filtro automático de exclusión de campañas.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524</Words>
  <Application>Microsoft Office PowerPoint</Application>
  <PresentationFormat>On-screen Show (16:9)</PresentationFormat>
  <Paragraphs>122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Roque Hernandez</cp:lastModifiedBy>
  <cp:revision>2</cp:revision>
  <dcterms:created xsi:type="dcterms:W3CDTF">2025-12-09T17:20:41Z</dcterms:created>
  <dcterms:modified xsi:type="dcterms:W3CDTF">2025-12-09T17:50:00Z</dcterms:modified>
</cp:coreProperties>
</file>