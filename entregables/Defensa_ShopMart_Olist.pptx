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14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0883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92886" y="306057"/>
            <a:ext cx="3758077" cy="112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lnSpc>
                <a:spcPts val="2430"/>
              </a:lnSpc>
              <a:buSzPct val="100000"/>
              <a:buNone/>
            </a:pPr>
            <a:r>
              <a:rPr lang="en-US" sz="3600" dirty="0" err="1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Defensa</a:t>
            </a:r>
            <a:r>
              <a:rPr lang="en-US" sz="36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 de</a:t>
            </a:r>
          </a:p>
          <a:p>
            <a:pPr indent="0" algn="ctr">
              <a:lnSpc>
                <a:spcPts val="2430"/>
              </a:lnSpc>
              <a:buSzPct val="100000"/>
              <a:buNone/>
            </a:pPr>
            <a:endParaRPr lang="en-US" sz="3600" dirty="0">
              <a:solidFill>
                <a:srgbClr val="475569"/>
              </a:solidFill>
              <a:latin typeface="Arial" pitchFamily="34" charset="0"/>
              <a:cs typeface="Arial" pitchFamily="34" charset="-120"/>
            </a:endParaRPr>
          </a:p>
          <a:p>
            <a:pPr indent="0" algn="ctr">
              <a:lnSpc>
                <a:spcPts val="2430"/>
              </a:lnSpc>
              <a:buSzPct val="100000"/>
              <a:buNone/>
            </a:pPr>
            <a:r>
              <a:rPr lang="en-US" sz="36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600" dirty="0" err="1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Análisis</a:t>
            </a:r>
            <a:r>
              <a:rPr lang="en-US" sz="36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 de Caso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500000"/>
            <a:ext cx="79248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30"/>
              </a:lnSpc>
              <a:buSzPct val="100000"/>
            </a:pPr>
            <a:r>
              <a:rPr lang="en-US" dirty="0" sz="2000" b="1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Personalización Data-Driven en E-Commerce: Predicción de Recompra para la Retención de Clientes (Caso Olist)</a:t>
            </a:r>
          </a:p>
        </p:txBody>
      </p:sp>
      <p:sp>
        <p:nvSpPr>
          <p:cNvPr id="4" name="Text 2"/>
          <p:cNvSpPr/>
          <p:nvPr/>
        </p:nvSpPr>
        <p:spPr>
          <a:xfrm>
            <a:off x="609600" y="2500000"/>
            <a:ext cx="79248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lnSpc>
                <a:spcPts val="2430"/>
              </a:lnSpc>
              <a:buSzPct val="100000"/>
              <a:buNone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Maestrante(s): </a:t>
            </a:r>
            <a:r>
              <a:rPr lang="en-US" sz="14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Alexander Baidal</a:t>
            </a:r>
          </a:p>
        </p:txBody>
      </p:sp>
      <p:sp>
        <p:nvSpPr>
          <p:cNvPr id="5" name="Text 3"/>
          <p:cNvSpPr/>
          <p:nvPr/>
        </p:nvSpPr>
        <p:spPr>
          <a:xfrm>
            <a:off x="609600" y="2920000"/>
            <a:ext cx="792480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30"/>
              </a:lnSpc>
              <a:buSzPct val="100000"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Tutor(a): </a:t>
            </a:r>
            <a:r>
              <a:rPr lang="en-US" sz="14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Roque Jacinto Hernández Bustos</a:t>
            </a:r>
          </a:p>
        </p:txBody>
      </p:sp>
      <p:sp>
        <p:nvSpPr>
          <p:cNvPr id="6" name="Text 4"/>
          <p:cNvSpPr/>
          <p:nvPr/>
        </p:nvSpPr>
        <p:spPr>
          <a:xfrm>
            <a:off x="609600" y="3340000"/>
            <a:ext cx="792480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lnSpc>
                <a:spcPts val="2430"/>
              </a:lnSpc>
              <a:buSzPct val="100000"/>
              <a:buNone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Fecha: </a:t>
            </a:r>
            <a:r>
              <a:rPr lang="en-US" sz="14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04/08/2026</a:t>
            </a:r>
          </a:p>
        </p:txBody>
      </p:sp>
      <p:sp>
        <p:nvSpPr>
          <p:cNvPr id="8" name="Text 6"/>
          <p:cNvSpPr/>
          <p:nvPr/>
        </p:nvSpPr>
        <p:spPr>
          <a:xfrm>
            <a:off x="3006895" y="4410771"/>
            <a:ext cx="31300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Maestría en Inteligencia Artificial y Ciencia de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  <a:sym typeface="Arial"/>
              </a:rPr>
              <a:t>Agenda</a:t>
            </a:r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y objetivos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y estrategia (EDA + preparación)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Modelos: diseño, entrenamiento y validación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 interpretación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Ética, riesgos y limitaciones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trabajo futuro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1. Problema y Contexto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del dominio: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187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ShopMart (e-commerce mediano): dataset sustituto Olist (~100k pedidos, 2016–2018).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374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 / necesidad: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399854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Tasas de recompra estancadas y marketing insuficientemente dirigido a señales reales de comportamiento.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841724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3157835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de marketing/CRM: focalizar el presupuesto de retención en quienes más probabilidad tienen de recomprar.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249561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284339"/>
            <a:ext cx="7924800" cy="1249561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Pregunta Guía y Decisión</a:t>
            </a:r>
          </a:p>
        </p:txBody>
      </p:sp>
      <p:sp>
        <p:nvSpPr>
          <p:cNvPr id="5" name="Text 3"/>
          <p:cNvSpPr/>
          <p:nvPr/>
        </p:nvSpPr>
        <p:spPr>
          <a:xfrm>
            <a:off x="914400" y="1554361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 guía?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98105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clientes, según su primer pedido, tienen mayor probabilidad de recomprar?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589139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que habilita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015829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campañas de retención hacia clientes con mayor score de recompra predicho.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Objetivos y Criterios de Éxito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187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Predecir la recompra desde el primer pedido y segmentar clientes (RFM) para la retención.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0754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 éxito: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323654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 principal: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Average Precision / PR-AUC (desbalance severo, ~3.3% recompra)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DummyClassifier estratificado → PR-AUC ≈ 0.033 (tasa base)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Umbral mínimo aceptable: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superar el baseline de forma consistente y lograr lift &gt; 1x en el decil superior de score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2. Datos: Descripción</a:t>
            </a:r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217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externo (público) — Olist Brazilian E-Commerce, Kaggle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Periodo: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sep. 2016 – oct. 2018 (~100,000 pedidos)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96,096 clientes únicos; 84,282 elegibles tras filtros de censura/entrega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objetivo (Y):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repeat_purchase (binaria): ≥2 pedidos en todo el dataset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relevantes (X):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valor/complejidad del pedido, pago, entrega, reseña, categoría, estacionalidad (23 features)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IDs pseudonimizados, sin PII; nulos estructurales documentados y tratados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Preparación y EDA: Hallazgos Clave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 y preprocesamiento: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Deduplicación de reseñas por pedido; nulos de entrega no imputados (son estructurales).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Imputación y codificación categórica dentro de un Pipeline ajustado solo en train.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457152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del EDA (3–5):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773263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Desbalance severo (~3.3% recompra) → métrica primaria PR-AUC.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variable individual —ni review_score— es driver fuerte por sí sola (todas |ρ|&lt;0.03).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categorías de producto long-tail y customer_city de alta cardinalidad: se agrupan/excluyen.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Features y Baseline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Transformaciones / Selección / Desbalance: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187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features (valor, pago, entrega, categoría); pipeline de one-hot + imputación + escalado.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374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399854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</a:t>
            </a: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DummyClassifier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Métrica </a:t>
            </a: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 = 0.033 (tasa base)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3. Modelos: Candidatos y Selección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Evaluados: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DummyClassifier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Pros: baseline simple | Contras: no usa señal alguna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LogisticRegression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Pros: interpretable, PR-AUC CV=0.047 | Contras: no captura interacciones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HistGradientBoosting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Pros: mayor margen de tuning | Contras: empata con LR sin tuning (0.046)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92194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final y justificación: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3238054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HistGradientBoostingClassifier optimizado: se eligió por su potencial de mejora vía tuning, pese a empatar técnicamente con la regresión logística en la comparación inicial por CV.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Diseño Experimental y Validación</a:t>
            </a:r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82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o CV: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hold-out estratificado 70/15/15 + StratifiedKFold (3 folds) en CV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Anti-leakage: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 solo del primer pedido; preprocesador ajustado solo en train; censura de 90 días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RandomizedSearchCV (6 combos): max_iter, max_depth, learning_rate, l2_reg, min_samples_leaf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PR-AUC (primaria), ROC-AUC, Brier, lift del decil superior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Reproducibilidad: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RANDOM_STATE=42; artefactos y hashes versionados en artifacts/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670471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Resultados e Interpretación</a:t>
            </a:r>
          </a:p>
        </p:txBody>
      </p:sp>
      <p:sp>
        <p:nvSpPr>
          <p:cNvPr id="4" name="Text 2"/>
          <p:cNvSpPr/>
          <p:nvPr/>
        </p:nvSpPr>
        <p:spPr>
          <a:xfrm>
            <a:off x="838200" y="1478161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PR-AUC 0.033 | </a:t>
            </a: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final: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PR-AUC 0.059 | </a:t>
            </a: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+79% relativo · lift 2.27x en decil superior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72432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Interpretación en el caso: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388543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Ganancia moderada, pero el lift 2.27x en el decil superior es accionable para retención.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75421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típicos / casos límite: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3070324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degradación sistemática por categoría/estado (muestra limitada); el modelo pierde precisión en pedidos atípicos (pocos ítems, categoría poco frecuente).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3600" b="1" dirty="0" err="1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Prototipo</a:t>
            </a: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3600" b="1" dirty="0" err="1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Despliegue</a:t>
            </a: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3600" b="1" dirty="0" err="1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Opcional</a:t>
            </a: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propuesta: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187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→ Inferencia → Integración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374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399854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Latencia: milisegundos por registro (modelo liviano, &lt;300 iteraciones)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Costo: bajo — sin GPU, footprint de joblib ~250 KB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Monitoreo: drift de features clave + reentrenamiento periódico (p. ej. trimestral)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4. </a:t>
            </a:r>
            <a:r>
              <a:rPr lang="en-US" sz="3600" b="1" dirty="0" err="1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Ética</a:t>
            </a: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, Privacidad y Riesgos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Sesgos + mitigaciones: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56567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customer_state solo como feature, no como filtro de exclusión; sin sesgos severos detectados.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93134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Privacidad/seguridad + controles: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247454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pseudonimizados; sin PII; customer_city excluido; licencia CC BY-NC-SA 4.0 académica.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613124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y uso responsable: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2929235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 predictiva débil: usar el score como insumo de priorización con supervisión humana, no como filtro automático de exclusión.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5. Conclusiones y Trabajo Futuro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(3–5):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565672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recompra reproducible; lift de 2.27x en el decil superior de score.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driver individual es fuerte (incl. review_score); el patrón es multi-causal.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segmentación RFM revela un segmento numeroso "en riesgo/bajo valor": la mayor oportunidad de reactivación.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76954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3085654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 predictiva modesta; dataset estático; sin validación A/B causal del lift.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3451324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futuro: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3767435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clickstream/marketing, más familias de modelos, prototipo de recomendación, validación A/B por segmento.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6. Anexos y Entregables</a:t>
            </a:r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82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1 (EDA):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notebooks/NB1_Estrategia_Datos_EDA.ipynb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2 (Modelos):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notebooks/NB2_Modelado_Validacion.ipynb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/ Demo: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carpeta notebooks/artifacts/ (modelo, model card, predicciones, segmentos)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(si públicos):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Kaggle — Olist Brazilian E-Commerce (CC BY-NC-SA 4.0)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técnica: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Informe_Tecnico_ShopMart_Olist.docx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6858" y="1689795"/>
            <a:ext cx="285028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45802" y="2543175"/>
            <a:ext cx="20522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su atención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05715" y="3267075"/>
            <a:ext cx="37324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Casa Grande</a:t>
            </a:r>
          </a:p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Maestría en IA y Ciencia de Datos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524</Words>
  <Application>Microsoft Office PowerPoint</Application>
  <PresentationFormat>On-screen Show (16:9)</PresentationFormat>
  <Paragraphs>122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Roque Hernandez</cp:lastModifiedBy>
  <cp:revision>2</cp:revision>
  <dcterms:created xsi:type="dcterms:W3CDTF">2025-12-09T17:20:41Z</dcterms:created>
  <dcterms:modified xsi:type="dcterms:W3CDTF">2025-12-09T17:50:00Z</dcterms:modified>
</cp:coreProperties>
</file>